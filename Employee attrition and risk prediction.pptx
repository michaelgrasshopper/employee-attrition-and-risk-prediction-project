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nva Sans Bold" panose="020B0604020202020204" charset="0"/>
      <p:regular r:id="rId12"/>
    </p:embeddedFont>
    <p:embeddedFont>
      <p:font typeface="Assistant Semi-Bold" panose="020B0604020202020204" charset="-79"/>
      <p:regular r:id="rId13"/>
    </p:embeddedFont>
    <p:embeddedFont>
      <p:font typeface="Source Sans Pro" panose="020B0604020202020204" charset="0"/>
      <p:regular r:id="rId14"/>
    </p:embeddedFont>
    <p:embeddedFont>
      <p:font typeface="Calibri" panose="020F0502020204030204" pitchFamily="34" charset="0"/>
      <p:regular r:id="rId15"/>
      <p:bold r:id="rId16"/>
      <p:italic r:id="rId17"/>
      <p:boldItalic r:id="rId18"/>
    </p:embeddedFont>
    <p:embeddedFont>
      <p:font typeface="Agency FB" panose="020B0503020202020204" pitchFamily="34" charset="0"/>
      <p:regular r:id="rId19"/>
      <p:bold r:id="rId20"/>
    </p:embeddedFont>
    <p:embeddedFont>
      <p:font typeface="Assistant Bold" panose="020B0604020202020204" charset="-79"/>
      <p:regular r:id="rId21"/>
    </p:embeddedFont>
    <p:embeddedFont>
      <p:font typeface="Georgia Pro Condensed" panose="020B0604020202020204" charset="0"/>
      <p:regular r:id="rId22"/>
    </p:embeddedFont>
    <p:embeddedFont>
      <p:font typeface="Canva Sans" panose="020B0604020202020204" charset="0"/>
      <p:regular r:id="rId23"/>
    </p:embeddedFont>
    <p:embeddedFont>
      <p:font typeface="Source Sans Pro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6" d="100"/>
          <a:sy n="46" d="100"/>
        </p:scale>
        <p:origin x="-536"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774191" y="-1083926"/>
            <a:ext cx="19888446" cy="12547330"/>
            <a:chOff x="853914" y="652462"/>
            <a:chExt cx="26517928" cy="16729773"/>
          </a:xfrm>
        </p:grpSpPr>
        <p:sp>
          <p:nvSpPr>
            <p:cNvPr id="3" name="Freeform 3"/>
            <p:cNvSpPr/>
            <p:nvPr/>
          </p:nvSpPr>
          <p:spPr>
            <a:xfrm rot="-10800000">
              <a:off x="853914" y="872922"/>
              <a:ext cx="5813404" cy="5486400"/>
            </a:xfrm>
            <a:custGeom>
              <a:avLst/>
              <a:gdLst/>
              <a:ahLst/>
              <a:cxnLst/>
              <a:rect l="l" t="t" r="r" b="b"/>
              <a:pathLst>
                <a:path w="5813404" h="5486400">
                  <a:moveTo>
                    <a:pt x="0" y="0"/>
                  </a:moveTo>
                  <a:lnTo>
                    <a:pt x="5813404" y="0"/>
                  </a:lnTo>
                  <a:lnTo>
                    <a:pt x="5813404" y="5486400"/>
                  </a:lnTo>
                  <a:lnTo>
                    <a:pt x="0" y="54864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Freeform 4"/>
            <p:cNvSpPr/>
            <p:nvPr/>
          </p:nvSpPr>
          <p:spPr>
            <a:xfrm>
              <a:off x="1185359" y="5835688"/>
              <a:ext cx="2194257" cy="2190267"/>
            </a:xfrm>
            <a:custGeom>
              <a:avLst/>
              <a:gdLst/>
              <a:ahLst/>
              <a:cxnLst/>
              <a:rect l="l" t="t" r="r" b="b"/>
              <a:pathLst>
                <a:path w="2194257" h="2190267">
                  <a:moveTo>
                    <a:pt x="0" y="0"/>
                  </a:moveTo>
                  <a:lnTo>
                    <a:pt x="2194257" y="0"/>
                  </a:lnTo>
                  <a:lnTo>
                    <a:pt x="2194257" y="2190267"/>
                  </a:lnTo>
                  <a:lnTo>
                    <a:pt x="0" y="219026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rot="435982">
              <a:off x="21165395" y="11206458"/>
              <a:ext cx="5813404" cy="5486400"/>
            </a:xfrm>
            <a:custGeom>
              <a:avLst/>
              <a:gdLst/>
              <a:ahLst/>
              <a:cxnLst/>
              <a:rect l="l" t="t" r="r" b="b"/>
              <a:pathLst>
                <a:path w="5813404" h="5486400">
                  <a:moveTo>
                    <a:pt x="0" y="0"/>
                  </a:moveTo>
                  <a:lnTo>
                    <a:pt x="5813404" y="0"/>
                  </a:lnTo>
                  <a:lnTo>
                    <a:pt x="5813404" y="5486400"/>
                  </a:lnTo>
                  <a:lnTo>
                    <a:pt x="0" y="54864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6" name="Freeform 6"/>
            <p:cNvSpPr/>
            <p:nvPr/>
          </p:nvSpPr>
          <p:spPr>
            <a:xfrm rot="10652293">
              <a:off x="24530873" y="9765709"/>
              <a:ext cx="2194257" cy="2190267"/>
            </a:xfrm>
            <a:custGeom>
              <a:avLst/>
              <a:gdLst/>
              <a:ahLst/>
              <a:cxnLst/>
              <a:rect l="l" t="t" r="r" b="b"/>
              <a:pathLst>
                <a:path w="2194257" h="2190267">
                  <a:moveTo>
                    <a:pt x="0" y="0"/>
                  </a:moveTo>
                  <a:lnTo>
                    <a:pt x="2194257" y="0"/>
                  </a:lnTo>
                  <a:lnTo>
                    <a:pt x="2194257" y="2190267"/>
                  </a:lnTo>
                  <a:lnTo>
                    <a:pt x="0" y="219026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Freeform 7"/>
            <p:cNvSpPr/>
            <p:nvPr/>
          </p:nvSpPr>
          <p:spPr>
            <a:xfrm rot="1831725">
              <a:off x="895585" y="12512818"/>
              <a:ext cx="4167278" cy="4663382"/>
            </a:xfrm>
            <a:custGeom>
              <a:avLst/>
              <a:gdLst/>
              <a:ahLst/>
              <a:cxnLst/>
              <a:rect l="l" t="t" r="r" b="b"/>
              <a:pathLst>
                <a:path w="4167278" h="4663382">
                  <a:moveTo>
                    <a:pt x="0" y="0"/>
                  </a:moveTo>
                  <a:lnTo>
                    <a:pt x="4167278" y="0"/>
                  </a:lnTo>
                  <a:lnTo>
                    <a:pt x="4167278" y="4663382"/>
                  </a:lnTo>
                  <a:lnTo>
                    <a:pt x="0" y="4663382"/>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8" name="Freeform 8"/>
            <p:cNvSpPr/>
            <p:nvPr/>
          </p:nvSpPr>
          <p:spPr>
            <a:xfrm rot="3179362" flipH="1" flipV="1">
              <a:off x="22956512" y="735736"/>
              <a:ext cx="4167278" cy="4663382"/>
            </a:xfrm>
            <a:custGeom>
              <a:avLst/>
              <a:gdLst/>
              <a:ahLst/>
              <a:cxnLst/>
              <a:rect l="l" t="t" r="r" b="b"/>
              <a:pathLst>
                <a:path w="4167278" h="4663382">
                  <a:moveTo>
                    <a:pt x="4167277" y="4663383"/>
                  </a:moveTo>
                  <a:lnTo>
                    <a:pt x="0" y="4663383"/>
                  </a:lnTo>
                  <a:lnTo>
                    <a:pt x="0" y="0"/>
                  </a:lnTo>
                  <a:lnTo>
                    <a:pt x="4167277" y="0"/>
                  </a:lnTo>
                  <a:lnTo>
                    <a:pt x="4167277" y="4663383"/>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9" name="Freeform 9"/>
            <p:cNvSpPr/>
            <p:nvPr/>
          </p:nvSpPr>
          <p:spPr>
            <a:xfrm rot="-5400000">
              <a:off x="6517985" y="12605142"/>
              <a:ext cx="2928366" cy="5486400"/>
            </a:xfrm>
            <a:custGeom>
              <a:avLst/>
              <a:gdLst/>
              <a:ahLst/>
              <a:cxnLst/>
              <a:rect l="l" t="t" r="r" b="b"/>
              <a:pathLst>
                <a:path w="2928366" h="5486400">
                  <a:moveTo>
                    <a:pt x="0" y="0"/>
                  </a:moveTo>
                  <a:lnTo>
                    <a:pt x="2928366" y="0"/>
                  </a:lnTo>
                  <a:lnTo>
                    <a:pt x="2928366" y="5486400"/>
                  </a:lnTo>
                  <a:lnTo>
                    <a:pt x="0" y="5486400"/>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0" name="Freeform 10"/>
            <p:cNvSpPr/>
            <p:nvPr/>
          </p:nvSpPr>
          <p:spPr>
            <a:xfrm rot="-5400000" flipH="1" flipV="1">
              <a:off x="18690935" y="-56845"/>
              <a:ext cx="2928366" cy="5486400"/>
            </a:xfrm>
            <a:custGeom>
              <a:avLst/>
              <a:gdLst/>
              <a:ahLst/>
              <a:cxnLst/>
              <a:rect l="l" t="t" r="r" b="b"/>
              <a:pathLst>
                <a:path w="2928366" h="5486400">
                  <a:moveTo>
                    <a:pt x="2928366" y="5486400"/>
                  </a:moveTo>
                  <a:lnTo>
                    <a:pt x="0" y="5486400"/>
                  </a:lnTo>
                  <a:lnTo>
                    <a:pt x="0" y="0"/>
                  </a:lnTo>
                  <a:lnTo>
                    <a:pt x="2928366" y="0"/>
                  </a:lnTo>
                  <a:lnTo>
                    <a:pt x="2928366" y="548640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1" name="Freeform 11"/>
            <p:cNvSpPr/>
            <p:nvPr/>
          </p:nvSpPr>
          <p:spPr>
            <a:xfrm>
              <a:off x="6355156" y="652462"/>
              <a:ext cx="3254024" cy="3498076"/>
            </a:xfrm>
            <a:custGeom>
              <a:avLst/>
              <a:gdLst/>
              <a:ahLst/>
              <a:cxnLst/>
              <a:rect l="l" t="t" r="r" b="b"/>
              <a:pathLst>
                <a:path w="3254024" h="3498076">
                  <a:moveTo>
                    <a:pt x="0" y="0"/>
                  </a:moveTo>
                  <a:lnTo>
                    <a:pt x="3254024" y="0"/>
                  </a:lnTo>
                  <a:lnTo>
                    <a:pt x="3254024" y="3498076"/>
                  </a:lnTo>
                  <a:lnTo>
                    <a:pt x="0" y="3498076"/>
                  </a:lnTo>
                  <a:lnTo>
                    <a:pt x="0" y="0"/>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2" name="Freeform 12"/>
            <p:cNvSpPr/>
            <p:nvPr/>
          </p:nvSpPr>
          <p:spPr>
            <a:xfrm flipH="1" flipV="1">
              <a:off x="18083606" y="13884159"/>
              <a:ext cx="3254024" cy="3498076"/>
            </a:xfrm>
            <a:custGeom>
              <a:avLst/>
              <a:gdLst/>
              <a:ahLst/>
              <a:cxnLst/>
              <a:rect l="l" t="t" r="r" b="b"/>
              <a:pathLst>
                <a:path w="3254024" h="3498076">
                  <a:moveTo>
                    <a:pt x="3254024" y="3498076"/>
                  </a:moveTo>
                  <a:lnTo>
                    <a:pt x="0" y="3498076"/>
                  </a:lnTo>
                  <a:lnTo>
                    <a:pt x="0" y="0"/>
                  </a:lnTo>
                  <a:lnTo>
                    <a:pt x="3254024" y="0"/>
                  </a:lnTo>
                  <a:lnTo>
                    <a:pt x="3254024" y="3498076"/>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3" name="TextBox 13"/>
            <p:cNvSpPr txBox="1"/>
            <p:nvPr/>
          </p:nvSpPr>
          <p:spPr>
            <a:xfrm>
              <a:off x="6013622" y="6807825"/>
              <a:ext cx="16129091" cy="2906779"/>
            </a:xfrm>
            <a:prstGeom prst="rect">
              <a:avLst/>
            </a:prstGeom>
          </p:spPr>
          <p:txBody>
            <a:bodyPr lIns="0" tIns="0" rIns="0" bIns="0" rtlCol="0" anchor="t">
              <a:spAutoFit/>
            </a:bodyPr>
            <a:lstStyle/>
            <a:p>
              <a:pPr marL="0" lvl="0" indent="0" algn="ctr">
                <a:lnSpc>
                  <a:spcPts val="8529"/>
                </a:lnSpc>
              </a:pPr>
              <a:r>
                <a:rPr lang="en-US" sz="9271" dirty="0">
                  <a:solidFill>
                    <a:srgbClr val="5E7B97"/>
                  </a:solidFill>
                  <a:latin typeface="Agency FB" panose="020B0503020202020204" pitchFamily="34" charset="0"/>
                  <a:ea typeface="TT Marxiana Antigua"/>
                  <a:cs typeface="TT Marxiana Antigua"/>
                  <a:sym typeface="TT Marxiana Antigua"/>
                </a:rPr>
                <a:t>Employee Attrition and Risk Prediction Analysis</a:t>
              </a:r>
            </a:p>
          </p:txBody>
        </p:sp>
        <p:sp>
          <p:nvSpPr>
            <p:cNvPr id="14" name="TextBox 14"/>
            <p:cNvSpPr txBox="1"/>
            <p:nvPr/>
          </p:nvSpPr>
          <p:spPr>
            <a:xfrm>
              <a:off x="7418629" y="11208175"/>
              <a:ext cx="13319075" cy="1138892"/>
            </a:xfrm>
            <a:prstGeom prst="rect">
              <a:avLst/>
            </a:prstGeom>
          </p:spPr>
          <p:txBody>
            <a:bodyPr lIns="0" tIns="0" rIns="0" bIns="0" rtlCol="0" anchor="t">
              <a:spAutoFit/>
            </a:bodyPr>
            <a:lstStyle/>
            <a:p>
              <a:pPr marL="0" lvl="0" indent="0" algn="ctr">
                <a:lnSpc>
                  <a:spcPts val="7257"/>
                </a:lnSpc>
              </a:pPr>
              <a:r>
                <a:rPr lang="en-US" sz="5183" dirty="0">
                  <a:solidFill>
                    <a:srgbClr val="5E7B97"/>
                  </a:solidFill>
                  <a:latin typeface="Source Sans Pro"/>
                  <a:ea typeface="Source Sans Pro"/>
                  <a:cs typeface="Source Sans Pro"/>
                  <a:sym typeface="Source Sans Pro"/>
                </a:rPr>
                <a:t>Created by Michael Michie</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sp>
        <p:nvSpPr>
          <p:cNvPr id="2" name="Freeform 2"/>
          <p:cNvSpPr/>
          <p:nvPr/>
        </p:nvSpPr>
        <p:spPr>
          <a:xfrm rot="435982">
            <a:off x="14459420" y="6831570"/>
            <a:ext cx="4360053" cy="4114800"/>
          </a:xfrm>
          <a:custGeom>
            <a:avLst/>
            <a:gdLst/>
            <a:ahLst/>
            <a:cxnLst/>
            <a:rect l="l" t="t" r="r" b="b"/>
            <a:pathLst>
              <a:path w="4360053" h="4114800">
                <a:moveTo>
                  <a:pt x="0" y="0"/>
                </a:moveTo>
                <a:lnTo>
                  <a:pt x="4360053" y="0"/>
                </a:lnTo>
                <a:lnTo>
                  <a:pt x="4360053" y="4114800"/>
                </a:lnTo>
                <a:lnTo>
                  <a:pt x="0" y="41148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rot="10652293">
            <a:off x="16983529" y="5751008"/>
            <a:ext cx="1645692" cy="1642700"/>
          </a:xfrm>
          <a:custGeom>
            <a:avLst/>
            <a:gdLst/>
            <a:ahLst/>
            <a:cxnLst/>
            <a:rect l="l" t="t" r="r" b="b"/>
            <a:pathLst>
              <a:path w="1645692" h="1642700">
                <a:moveTo>
                  <a:pt x="0" y="0"/>
                </a:moveTo>
                <a:lnTo>
                  <a:pt x="1645693" y="0"/>
                </a:lnTo>
                <a:lnTo>
                  <a:pt x="1645693" y="1642700"/>
                </a:lnTo>
                <a:lnTo>
                  <a:pt x="0" y="164270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rot="3179362" flipH="1" flipV="1">
            <a:off x="15802758" y="-1021471"/>
            <a:ext cx="3125458" cy="3497537"/>
          </a:xfrm>
          <a:custGeom>
            <a:avLst/>
            <a:gdLst/>
            <a:ahLst/>
            <a:cxnLst/>
            <a:rect l="l" t="t" r="r" b="b"/>
            <a:pathLst>
              <a:path w="3125458" h="3497537">
                <a:moveTo>
                  <a:pt x="3125458" y="3497537"/>
                </a:moveTo>
                <a:lnTo>
                  <a:pt x="0" y="3497537"/>
                </a:lnTo>
                <a:lnTo>
                  <a:pt x="0" y="0"/>
                </a:lnTo>
                <a:lnTo>
                  <a:pt x="3125458" y="0"/>
                </a:lnTo>
                <a:lnTo>
                  <a:pt x="3125458" y="3497537"/>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5" name="Freeform 5"/>
          <p:cNvSpPr/>
          <p:nvPr/>
        </p:nvSpPr>
        <p:spPr>
          <a:xfrm rot="-5400000" flipH="1" flipV="1">
            <a:off x="12603575" y="-1615907"/>
            <a:ext cx="2196274" cy="4114800"/>
          </a:xfrm>
          <a:custGeom>
            <a:avLst/>
            <a:gdLst/>
            <a:ahLst/>
            <a:cxnLst/>
            <a:rect l="l" t="t" r="r" b="b"/>
            <a:pathLst>
              <a:path w="2196274" h="4114800">
                <a:moveTo>
                  <a:pt x="2196275" y="4114800"/>
                </a:moveTo>
                <a:lnTo>
                  <a:pt x="0" y="4114800"/>
                </a:lnTo>
                <a:lnTo>
                  <a:pt x="0" y="0"/>
                </a:lnTo>
                <a:lnTo>
                  <a:pt x="2196275" y="0"/>
                </a:lnTo>
                <a:lnTo>
                  <a:pt x="2196275" y="411480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6" name="Freeform 6"/>
          <p:cNvSpPr/>
          <p:nvPr/>
        </p:nvSpPr>
        <p:spPr>
          <a:xfrm flipH="1" flipV="1">
            <a:off x="12148079" y="8839846"/>
            <a:ext cx="2440518" cy="2623557"/>
          </a:xfrm>
          <a:custGeom>
            <a:avLst/>
            <a:gdLst/>
            <a:ahLst/>
            <a:cxnLst/>
            <a:rect l="l" t="t" r="r" b="b"/>
            <a:pathLst>
              <a:path w="2440518" h="2623557">
                <a:moveTo>
                  <a:pt x="2440517" y="2623557"/>
                </a:moveTo>
                <a:lnTo>
                  <a:pt x="0" y="2623557"/>
                </a:lnTo>
                <a:lnTo>
                  <a:pt x="0" y="0"/>
                </a:lnTo>
                <a:lnTo>
                  <a:pt x="2440517" y="0"/>
                </a:lnTo>
                <a:lnTo>
                  <a:pt x="2440517" y="2623557"/>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7" name="TextBox 7"/>
          <p:cNvSpPr txBox="1"/>
          <p:nvPr/>
        </p:nvSpPr>
        <p:spPr>
          <a:xfrm>
            <a:off x="1933575" y="2419477"/>
            <a:ext cx="10822744" cy="1384995"/>
          </a:xfrm>
          <a:prstGeom prst="rect">
            <a:avLst/>
          </a:prstGeom>
        </p:spPr>
        <p:txBody>
          <a:bodyPr lIns="0" tIns="0" rIns="0" bIns="0" rtlCol="0" anchor="t">
            <a:spAutoFit/>
          </a:bodyPr>
          <a:lstStyle/>
          <a:p>
            <a:pPr marL="0" lvl="0" indent="0" algn="l">
              <a:lnSpc>
                <a:spcPts val="10779"/>
              </a:lnSpc>
            </a:pPr>
            <a:r>
              <a:rPr lang="en-US" sz="11717" dirty="0">
                <a:solidFill>
                  <a:srgbClr val="5E7B97"/>
                </a:solidFill>
                <a:latin typeface="Agency FB" panose="020B0503020202020204" pitchFamily="34" charset="0"/>
                <a:ea typeface="TT Marxiana Antigua"/>
                <a:cs typeface="TT Marxiana Antigua"/>
                <a:sym typeface="TT Marxiana Antigua"/>
              </a:rPr>
              <a:t>Dataset Overview</a:t>
            </a:r>
          </a:p>
        </p:txBody>
      </p:sp>
      <p:sp>
        <p:nvSpPr>
          <p:cNvPr id="8" name="TextBox 8"/>
          <p:cNvSpPr txBox="1"/>
          <p:nvPr/>
        </p:nvSpPr>
        <p:spPr>
          <a:xfrm>
            <a:off x="1933575" y="4445415"/>
            <a:ext cx="10822744" cy="1171001"/>
          </a:xfrm>
          <a:prstGeom prst="rect">
            <a:avLst/>
          </a:prstGeom>
        </p:spPr>
        <p:txBody>
          <a:bodyPr lIns="0" tIns="0" rIns="0" bIns="0" rtlCol="0" anchor="t">
            <a:spAutoFit/>
          </a:bodyPr>
          <a:lstStyle/>
          <a:p>
            <a:pPr marL="0" lvl="0" indent="0" algn="l">
              <a:lnSpc>
                <a:spcPts val="4756"/>
              </a:lnSpc>
            </a:pPr>
            <a:r>
              <a:rPr lang="en-US" sz="3397">
                <a:solidFill>
                  <a:srgbClr val="5E7B97"/>
                </a:solidFill>
                <a:latin typeface="Source Sans Pro"/>
                <a:ea typeface="Source Sans Pro"/>
                <a:cs typeface="Source Sans Pro"/>
                <a:sym typeface="Source Sans Pro"/>
              </a:rPr>
              <a:t>Total employees in dataset: 1,470, with 237 recorded departures — representing a 16.1% overall attrition rate.</a:t>
            </a:r>
          </a:p>
        </p:txBody>
      </p:sp>
      <p:sp>
        <p:nvSpPr>
          <p:cNvPr id="9" name="TextBox 9"/>
          <p:cNvSpPr txBox="1"/>
          <p:nvPr/>
        </p:nvSpPr>
        <p:spPr>
          <a:xfrm>
            <a:off x="1933575" y="6420357"/>
            <a:ext cx="10822744" cy="1771076"/>
          </a:xfrm>
          <a:prstGeom prst="rect">
            <a:avLst/>
          </a:prstGeom>
        </p:spPr>
        <p:txBody>
          <a:bodyPr lIns="0" tIns="0" rIns="0" bIns="0" rtlCol="0" anchor="t">
            <a:spAutoFit/>
          </a:bodyPr>
          <a:lstStyle/>
          <a:p>
            <a:pPr marL="0" lvl="0" indent="0" algn="l">
              <a:lnSpc>
                <a:spcPts val="4756"/>
              </a:lnSpc>
            </a:pPr>
            <a:r>
              <a:rPr lang="en-US" sz="3397">
                <a:solidFill>
                  <a:srgbClr val="5E7B97"/>
                </a:solidFill>
                <a:latin typeface="Source Sans Pro"/>
                <a:ea typeface="Source Sans Pro"/>
                <a:cs typeface="Source Sans Pro"/>
                <a:sym typeface="Source Sans Pro"/>
              </a:rPr>
              <a:t>Class imbalance is significant: 83.9% of employees stayed while only 16.1% left, posing a challenge for predictive modeling.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sp>
        <p:nvSpPr>
          <p:cNvPr id="2" name="Freeform 2"/>
          <p:cNvSpPr/>
          <p:nvPr/>
        </p:nvSpPr>
        <p:spPr>
          <a:xfrm rot="435982">
            <a:off x="14459420" y="6831570"/>
            <a:ext cx="4360053" cy="4114800"/>
          </a:xfrm>
          <a:custGeom>
            <a:avLst/>
            <a:gdLst/>
            <a:ahLst/>
            <a:cxnLst/>
            <a:rect l="l" t="t" r="r" b="b"/>
            <a:pathLst>
              <a:path w="4360053" h="4114800">
                <a:moveTo>
                  <a:pt x="0" y="0"/>
                </a:moveTo>
                <a:lnTo>
                  <a:pt x="4360053" y="0"/>
                </a:lnTo>
                <a:lnTo>
                  <a:pt x="4360053" y="4114800"/>
                </a:lnTo>
                <a:lnTo>
                  <a:pt x="0" y="41148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rot="10652293">
            <a:off x="16983529" y="5751008"/>
            <a:ext cx="1645692" cy="1642700"/>
          </a:xfrm>
          <a:custGeom>
            <a:avLst/>
            <a:gdLst/>
            <a:ahLst/>
            <a:cxnLst/>
            <a:rect l="l" t="t" r="r" b="b"/>
            <a:pathLst>
              <a:path w="1645692" h="1642700">
                <a:moveTo>
                  <a:pt x="0" y="0"/>
                </a:moveTo>
                <a:lnTo>
                  <a:pt x="1645693" y="0"/>
                </a:lnTo>
                <a:lnTo>
                  <a:pt x="1645693" y="1642700"/>
                </a:lnTo>
                <a:lnTo>
                  <a:pt x="0" y="164270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rot="3179362" flipH="1" flipV="1">
            <a:off x="15802758" y="-1021471"/>
            <a:ext cx="3125458" cy="3497537"/>
          </a:xfrm>
          <a:custGeom>
            <a:avLst/>
            <a:gdLst/>
            <a:ahLst/>
            <a:cxnLst/>
            <a:rect l="l" t="t" r="r" b="b"/>
            <a:pathLst>
              <a:path w="3125458" h="3497537">
                <a:moveTo>
                  <a:pt x="3125458" y="3497537"/>
                </a:moveTo>
                <a:lnTo>
                  <a:pt x="0" y="3497537"/>
                </a:lnTo>
                <a:lnTo>
                  <a:pt x="0" y="0"/>
                </a:lnTo>
                <a:lnTo>
                  <a:pt x="3125458" y="0"/>
                </a:lnTo>
                <a:lnTo>
                  <a:pt x="3125458" y="3497537"/>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5" name="Freeform 5"/>
          <p:cNvSpPr/>
          <p:nvPr/>
        </p:nvSpPr>
        <p:spPr>
          <a:xfrm rot="-5400000" flipH="1" flipV="1">
            <a:off x="12603575" y="-1615907"/>
            <a:ext cx="2196274" cy="4114800"/>
          </a:xfrm>
          <a:custGeom>
            <a:avLst/>
            <a:gdLst/>
            <a:ahLst/>
            <a:cxnLst/>
            <a:rect l="l" t="t" r="r" b="b"/>
            <a:pathLst>
              <a:path w="2196274" h="4114800">
                <a:moveTo>
                  <a:pt x="2196275" y="4114800"/>
                </a:moveTo>
                <a:lnTo>
                  <a:pt x="0" y="4114800"/>
                </a:lnTo>
                <a:lnTo>
                  <a:pt x="0" y="0"/>
                </a:lnTo>
                <a:lnTo>
                  <a:pt x="2196275" y="0"/>
                </a:lnTo>
                <a:lnTo>
                  <a:pt x="2196275" y="411480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6" name="Freeform 6"/>
          <p:cNvSpPr/>
          <p:nvPr/>
        </p:nvSpPr>
        <p:spPr>
          <a:xfrm flipH="1" flipV="1">
            <a:off x="12148079" y="8839846"/>
            <a:ext cx="2440518" cy="2623557"/>
          </a:xfrm>
          <a:custGeom>
            <a:avLst/>
            <a:gdLst/>
            <a:ahLst/>
            <a:cxnLst/>
            <a:rect l="l" t="t" r="r" b="b"/>
            <a:pathLst>
              <a:path w="2440518" h="2623557">
                <a:moveTo>
                  <a:pt x="2440517" y="2623557"/>
                </a:moveTo>
                <a:lnTo>
                  <a:pt x="0" y="2623557"/>
                </a:lnTo>
                <a:lnTo>
                  <a:pt x="0" y="0"/>
                </a:lnTo>
                <a:lnTo>
                  <a:pt x="2440517" y="0"/>
                </a:lnTo>
                <a:lnTo>
                  <a:pt x="2440517" y="2623557"/>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7" name="TextBox 7"/>
          <p:cNvSpPr txBox="1"/>
          <p:nvPr/>
        </p:nvSpPr>
        <p:spPr>
          <a:xfrm>
            <a:off x="1933575" y="2373486"/>
            <a:ext cx="7210425" cy="1787077"/>
          </a:xfrm>
          <a:prstGeom prst="rect">
            <a:avLst/>
          </a:prstGeom>
        </p:spPr>
        <p:txBody>
          <a:bodyPr lIns="0" tIns="0" rIns="0" bIns="0" rtlCol="0" anchor="t">
            <a:spAutoFit/>
          </a:bodyPr>
          <a:lstStyle/>
          <a:p>
            <a:pPr marL="0" lvl="0" indent="0" algn="l">
              <a:lnSpc>
                <a:spcPts val="6806"/>
              </a:lnSpc>
            </a:pPr>
            <a:r>
              <a:rPr lang="en-US" sz="7398" dirty="0">
                <a:solidFill>
                  <a:srgbClr val="5E7B97"/>
                </a:solidFill>
                <a:latin typeface="Agency FB" panose="020B0503020202020204" pitchFamily="34" charset="0"/>
                <a:ea typeface="TT Marxiana Antigua"/>
                <a:cs typeface="TT Marxiana Antigua"/>
                <a:sym typeface="TT Marxiana Antigua"/>
              </a:rPr>
              <a:t>Overtime and Attrition Pattern</a:t>
            </a:r>
          </a:p>
        </p:txBody>
      </p:sp>
      <p:sp>
        <p:nvSpPr>
          <p:cNvPr id="8" name="TextBox 8"/>
          <p:cNvSpPr txBox="1"/>
          <p:nvPr/>
        </p:nvSpPr>
        <p:spPr>
          <a:xfrm>
            <a:off x="1933575" y="4542299"/>
            <a:ext cx="7210425" cy="3377572"/>
          </a:xfrm>
          <a:prstGeom prst="rect">
            <a:avLst/>
          </a:prstGeom>
        </p:spPr>
        <p:txBody>
          <a:bodyPr lIns="0" tIns="0" rIns="0" bIns="0" rtlCol="0" anchor="t">
            <a:spAutoFit/>
          </a:bodyPr>
          <a:lstStyle/>
          <a:p>
            <a:pPr marL="0" lvl="0" indent="0" algn="l">
              <a:lnSpc>
                <a:spcPts val="3884"/>
              </a:lnSpc>
            </a:pPr>
            <a:r>
              <a:rPr lang="en-US" sz="2774">
                <a:solidFill>
                  <a:srgbClr val="5E7B97"/>
                </a:solidFill>
                <a:latin typeface="Source Sans Pro"/>
                <a:ea typeface="Source Sans Pro"/>
                <a:cs typeface="Source Sans Pro"/>
                <a:sym typeface="Source Sans Pro"/>
              </a:rPr>
              <a:t>Overtime is the strongest single predictor of attrition. Employees working overtime leave at roughly 3× the rate of those without it:</a:t>
            </a:r>
          </a:p>
          <a:p>
            <a:pPr marL="0" lvl="0" indent="0" algn="l">
              <a:lnSpc>
                <a:spcPts val="3884"/>
              </a:lnSpc>
            </a:pPr>
            <a:r>
              <a:rPr lang="en-US" sz="2774">
                <a:solidFill>
                  <a:srgbClr val="5E7B97"/>
                </a:solidFill>
                <a:latin typeface="Source Sans Pro"/>
                <a:ea typeface="Source Sans Pro"/>
                <a:cs typeface="Source Sans Pro"/>
                <a:sym typeface="Source Sans Pro"/>
              </a:rPr>
              <a:t>• No overtime (~1,060 employees): ~10% attrition</a:t>
            </a:r>
          </a:p>
          <a:p>
            <a:pPr marL="0" lvl="0" indent="0" algn="l">
              <a:lnSpc>
                <a:spcPts val="3884"/>
              </a:lnSpc>
            </a:pPr>
            <a:r>
              <a:rPr lang="en-US" sz="2774">
                <a:solidFill>
                  <a:srgbClr val="5E7B97"/>
                </a:solidFill>
                <a:latin typeface="Source Sans Pro"/>
                <a:ea typeface="Source Sans Pro"/>
                <a:cs typeface="Source Sans Pro"/>
                <a:sym typeface="Source Sans Pro"/>
              </a:rPr>
              <a:t>• With overtime (~420 employees): ~33% attrition</a:t>
            </a:r>
          </a:p>
          <a:p>
            <a:pPr marL="0" lvl="0" indent="0" algn="l">
              <a:lnSpc>
                <a:spcPts val="3884"/>
              </a:lnSpc>
            </a:pPr>
            <a:r>
              <a:rPr lang="en-US" sz="2774">
                <a:solidFill>
                  <a:srgbClr val="5E7B97"/>
                </a:solidFill>
                <a:latin typeface="Source Sans Pro"/>
                <a:ea typeface="Source Sans Pro"/>
                <a:cs typeface="Source Sans Pro"/>
                <a:sym typeface="Source Sans Pro"/>
              </a:rPr>
              <a:t>Addressing overtime burden may be the highest-leverage lever for reducing employee departures.</a:t>
            </a:r>
          </a:p>
        </p:txBody>
      </p:sp>
      <p:pic>
        <p:nvPicPr>
          <p:cNvPr id="9" name="Picture 9"/>
          <p:cNvPicPr>
            <a:picLocks noChangeAspect="1"/>
          </p:cNvPicPr>
          <p:nvPr/>
        </p:nvPicPr>
        <p:blipFill>
          <a:blip r:embed="rId12"/>
          <a:stretch>
            <a:fillRect/>
          </a:stretch>
        </p:blipFill>
        <p:spPr>
          <a:xfrm>
            <a:off x="8926398" y="2756371"/>
            <a:ext cx="5531350" cy="57455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sp>
        <p:nvSpPr>
          <p:cNvPr id="2" name="Freeform 2"/>
          <p:cNvSpPr/>
          <p:nvPr/>
        </p:nvSpPr>
        <p:spPr>
          <a:xfrm rot="435982">
            <a:off x="14459420" y="6831570"/>
            <a:ext cx="4360053" cy="4114800"/>
          </a:xfrm>
          <a:custGeom>
            <a:avLst/>
            <a:gdLst/>
            <a:ahLst/>
            <a:cxnLst/>
            <a:rect l="l" t="t" r="r" b="b"/>
            <a:pathLst>
              <a:path w="4360053" h="4114800">
                <a:moveTo>
                  <a:pt x="0" y="0"/>
                </a:moveTo>
                <a:lnTo>
                  <a:pt x="4360053" y="0"/>
                </a:lnTo>
                <a:lnTo>
                  <a:pt x="4360053" y="4114800"/>
                </a:lnTo>
                <a:lnTo>
                  <a:pt x="0" y="41148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rot="10652293">
            <a:off x="16983529" y="5751008"/>
            <a:ext cx="1645692" cy="1642700"/>
          </a:xfrm>
          <a:custGeom>
            <a:avLst/>
            <a:gdLst/>
            <a:ahLst/>
            <a:cxnLst/>
            <a:rect l="l" t="t" r="r" b="b"/>
            <a:pathLst>
              <a:path w="1645692" h="1642700">
                <a:moveTo>
                  <a:pt x="0" y="0"/>
                </a:moveTo>
                <a:lnTo>
                  <a:pt x="1645693" y="0"/>
                </a:lnTo>
                <a:lnTo>
                  <a:pt x="1645693" y="1642700"/>
                </a:lnTo>
                <a:lnTo>
                  <a:pt x="0" y="164270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rot="3179362" flipH="1" flipV="1">
            <a:off x="15802758" y="-1021471"/>
            <a:ext cx="3125458" cy="3497537"/>
          </a:xfrm>
          <a:custGeom>
            <a:avLst/>
            <a:gdLst/>
            <a:ahLst/>
            <a:cxnLst/>
            <a:rect l="l" t="t" r="r" b="b"/>
            <a:pathLst>
              <a:path w="3125458" h="3497537">
                <a:moveTo>
                  <a:pt x="3125458" y="3497537"/>
                </a:moveTo>
                <a:lnTo>
                  <a:pt x="0" y="3497537"/>
                </a:lnTo>
                <a:lnTo>
                  <a:pt x="0" y="0"/>
                </a:lnTo>
                <a:lnTo>
                  <a:pt x="3125458" y="0"/>
                </a:lnTo>
                <a:lnTo>
                  <a:pt x="3125458" y="3497537"/>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5" name="Freeform 5"/>
          <p:cNvSpPr/>
          <p:nvPr/>
        </p:nvSpPr>
        <p:spPr>
          <a:xfrm rot="-5400000" flipH="1" flipV="1">
            <a:off x="12603575" y="-1615907"/>
            <a:ext cx="2196274" cy="4114800"/>
          </a:xfrm>
          <a:custGeom>
            <a:avLst/>
            <a:gdLst/>
            <a:ahLst/>
            <a:cxnLst/>
            <a:rect l="l" t="t" r="r" b="b"/>
            <a:pathLst>
              <a:path w="2196274" h="4114800">
                <a:moveTo>
                  <a:pt x="2196275" y="4114800"/>
                </a:moveTo>
                <a:lnTo>
                  <a:pt x="0" y="4114800"/>
                </a:lnTo>
                <a:lnTo>
                  <a:pt x="0" y="0"/>
                </a:lnTo>
                <a:lnTo>
                  <a:pt x="2196275" y="0"/>
                </a:lnTo>
                <a:lnTo>
                  <a:pt x="2196275" y="411480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6" name="Freeform 6"/>
          <p:cNvSpPr/>
          <p:nvPr/>
        </p:nvSpPr>
        <p:spPr>
          <a:xfrm flipH="1" flipV="1">
            <a:off x="12148079" y="8839846"/>
            <a:ext cx="2440518" cy="2623557"/>
          </a:xfrm>
          <a:custGeom>
            <a:avLst/>
            <a:gdLst/>
            <a:ahLst/>
            <a:cxnLst/>
            <a:rect l="l" t="t" r="r" b="b"/>
            <a:pathLst>
              <a:path w="2440518" h="2623557">
                <a:moveTo>
                  <a:pt x="2440517" y="2623557"/>
                </a:moveTo>
                <a:lnTo>
                  <a:pt x="0" y="2623557"/>
                </a:lnTo>
                <a:lnTo>
                  <a:pt x="0" y="0"/>
                </a:lnTo>
                <a:lnTo>
                  <a:pt x="2440517" y="0"/>
                </a:lnTo>
                <a:lnTo>
                  <a:pt x="2440517" y="2623557"/>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7" name="TextBox 7"/>
          <p:cNvSpPr txBox="1"/>
          <p:nvPr/>
        </p:nvSpPr>
        <p:spPr>
          <a:xfrm>
            <a:off x="1000991" y="2705100"/>
            <a:ext cx="10822744" cy="1064394"/>
          </a:xfrm>
          <a:prstGeom prst="rect">
            <a:avLst/>
          </a:prstGeom>
        </p:spPr>
        <p:txBody>
          <a:bodyPr lIns="0" tIns="0" rIns="0" bIns="0" rtlCol="0" anchor="t">
            <a:spAutoFit/>
          </a:bodyPr>
          <a:lstStyle/>
          <a:p>
            <a:pPr marL="0" lvl="0" indent="0" algn="l">
              <a:lnSpc>
                <a:spcPts val="8320"/>
              </a:lnSpc>
            </a:pPr>
            <a:r>
              <a:rPr lang="en-US" sz="9043" dirty="0">
                <a:solidFill>
                  <a:srgbClr val="5E7B97"/>
                </a:solidFill>
                <a:latin typeface="Agency FB" panose="020B0503020202020204" pitchFamily="34" charset="0"/>
                <a:ea typeface="TT Marxiana Antigua"/>
                <a:cs typeface="TT Marxiana Antigua"/>
                <a:sym typeface="TT Marxiana Antigua"/>
              </a:rPr>
              <a:t>Income, Tenure &amp; Age</a:t>
            </a:r>
          </a:p>
        </p:txBody>
      </p:sp>
      <p:sp>
        <p:nvSpPr>
          <p:cNvPr id="8" name="TextBox 8"/>
          <p:cNvSpPr txBox="1"/>
          <p:nvPr/>
        </p:nvSpPr>
        <p:spPr>
          <a:xfrm>
            <a:off x="1028700" y="4809637"/>
            <a:ext cx="9904447" cy="1756422"/>
          </a:xfrm>
          <a:prstGeom prst="rect">
            <a:avLst/>
          </a:prstGeom>
        </p:spPr>
        <p:txBody>
          <a:bodyPr lIns="0" tIns="0" rIns="0" bIns="0" rtlCol="0" anchor="t">
            <a:spAutoFit/>
          </a:bodyPr>
          <a:lstStyle/>
          <a:p>
            <a:pPr marL="0" lvl="0" indent="0" algn="l">
              <a:lnSpc>
                <a:spcPts val="4749"/>
              </a:lnSpc>
            </a:pPr>
            <a:r>
              <a:rPr lang="en-US" sz="3392">
                <a:solidFill>
                  <a:srgbClr val="5E7B97"/>
                </a:solidFill>
                <a:latin typeface="Source Sans Pro"/>
                <a:ea typeface="Source Sans Pro"/>
                <a:cs typeface="Source Sans Pro"/>
                <a:sym typeface="Source Sans Pro"/>
              </a:rPr>
              <a:t>Monthly income: leavers median ~$3,200 vs. stayers ~$5,200 — leavers concentrated in lower income bands, suggesting compensation is a key attrition driver.</a:t>
            </a:r>
          </a:p>
        </p:txBody>
      </p:sp>
      <p:sp>
        <p:nvSpPr>
          <p:cNvPr id="9" name="TextBox 9"/>
          <p:cNvSpPr txBox="1"/>
          <p:nvPr/>
        </p:nvSpPr>
        <p:spPr>
          <a:xfrm>
            <a:off x="1028700" y="6985645"/>
            <a:ext cx="10339203" cy="2465649"/>
          </a:xfrm>
          <a:prstGeom prst="rect">
            <a:avLst/>
          </a:prstGeom>
        </p:spPr>
        <p:txBody>
          <a:bodyPr lIns="0" tIns="0" rIns="0" bIns="0" rtlCol="0" anchor="t">
            <a:spAutoFit/>
          </a:bodyPr>
          <a:lstStyle/>
          <a:p>
            <a:pPr marL="0" lvl="0" indent="0" algn="l">
              <a:lnSpc>
                <a:spcPts val="4946"/>
              </a:lnSpc>
            </a:pPr>
            <a:r>
              <a:rPr lang="en-US" sz="3533">
                <a:solidFill>
                  <a:srgbClr val="5E7B97"/>
                </a:solidFill>
                <a:latin typeface="Source Sans Pro"/>
                <a:ea typeface="Source Sans Pro"/>
                <a:cs typeface="Source Sans Pro"/>
                <a:sym typeface="Source Sans Pro"/>
              </a:rPr>
              <a:t>Tenure &amp; Age: leavers median ~3 years vs. stayers ~6 years; attrition is highest in the 18–34 age range and declines sharply after age 40, indicating early-career employees are at greatest risk.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597993" y="507765"/>
            <a:ext cx="9852298" cy="1038746"/>
          </a:xfrm>
          <a:prstGeom prst="rect">
            <a:avLst/>
          </a:prstGeom>
        </p:spPr>
        <p:txBody>
          <a:bodyPr lIns="0" tIns="0" rIns="0" bIns="0" rtlCol="0" anchor="t">
            <a:spAutoFit/>
          </a:bodyPr>
          <a:lstStyle/>
          <a:p>
            <a:pPr algn="l">
              <a:lnSpc>
                <a:spcPts val="8101"/>
              </a:lnSpc>
            </a:pPr>
            <a:r>
              <a:rPr lang="en-US" sz="8101" dirty="0" smtClean="0">
                <a:solidFill>
                  <a:srgbClr val="486889"/>
                </a:solidFill>
                <a:latin typeface="Agency FB" panose="020B0503020202020204" pitchFamily="34" charset="0"/>
                <a:ea typeface="Georgia Pro Condensed"/>
                <a:cs typeface="Georgia Pro Condensed"/>
                <a:sym typeface="Georgia Pro Condensed"/>
              </a:rPr>
              <a:t>Age Distribution</a:t>
            </a:r>
            <a:endParaRPr lang="en-US" sz="8101" dirty="0">
              <a:solidFill>
                <a:srgbClr val="486889"/>
              </a:solidFill>
              <a:latin typeface="Agency FB" panose="020B0503020202020204" pitchFamily="34" charset="0"/>
              <a:ea typeface="Georgia Pro Condensed"/>
              <a:cs typeface="Georgia Pro Condensed"/>
              <a:sym typeface="Georgia Pro Condensed"/>
            </a:endParaRPr>
          </a:p>
        </p:txBody>
      </p:sp>
      <p:sp>
        <p:nvSpPr>
          <p:cNvPr id="4" name="TextBox 4"/>
          <p:cNvSpPr txBox="1"/>
          <p:nvPr/>
        </p:nvSpPr>
        <p:spPr>
          <a:xfrm>
            <a:off x="579314" y="1660845"/>
            <a:ext cx="11720141" cy="391888"/>
          </a:xfrm>
          <a:prstGeom prst="rect">
            <a:avLst/>
          </a:prstGeom>
        </p:spPr>
        <p:txBody>
          <a:bodyPr lIns="0" tIns="0" rIns="0" bIns="0" rtlCol="0" anchor="t">
            <a:spAutoFit/>
          </a:bodyPr>
          <a:lstStyle/>
          <a:p>
            <a:pPr algn="l">
              <a:lnSpc>
                <a:spcPts val="3356"/>
              </a:lnSpc>
            </a:pPr>
            <a:r>
              <a:rPr lang="en-US" sz="2487" b="1" spc="-37">
                <a:solidFill>
                  <a:srgbClr val="8095A6"/>
                </a:solidFill>
                <a:latin typeface="Assistant Semi-Bold"/>
                <a:ea typeface="Assistant Semi-Bold"/>
                <a:cs typeface="Assistant Semi-Bold"/>
                <a:sym typeface="Assistant Semi-Bold"/>
              </a:rPr>
              <a:t>The chart breaks down employees by age and shows how many left (attrition) vs. stayed.</a:t>
            </a:r>
          </a:p>
        </p:txBody>
      </p:sp>
      <p:sp>
        <p:nvSpPr>
          <p:cNvPr id="5" name="Freeform 5"/>
          <p:cNvSpPr/>
          <p:nvPr/>
        </p:nvSpPr>
        <p:spPr>
          <a:xfrm>
            <a:off x="13059732" y="0"/>
            <a:ext cx="1968804" cy="1508614"/>
          </a:xfrm>
          <a:custGeom>
            <a:avLst/>
            <a:gdLst/>
            <a:ahLst/>
            <a:cxnLst/>
            <a:rect l="l" t="t" r="r" b="b"/>
            <a:pathLst>
              <a:path w="1968804" h="1508614">
                <a:moveTo>
                  <a:pt x="0" y="0"/>
                </a:moveTo>
                <a:lnTo>
                  <a:pt x="1968804" y="0"/>
                </a:lnTo>
                <a:lnTo>
                  <a:pt x="1968804" y="1508614"/>
                </a:lnTo>
                <a:lnTo>
                  <a:pt x="0" y="1508614"/>
                </a:lnTo>
                <a:lnTo>
                  <a:pt x="0" y="0"/>
                </a:lnTo>
                <a:close/>
              </a:path>
            </a:pathLst>
          </a:custGeom>
          <a:blipFill>
            <a:blip r:embed="rId3"/>
            <a:stretch>
              <a:fillRect/>
            </a:stretch>
          </a:blipFill>
        </p:spPr>
      </p:sp>
      <p:sp>
        <p:nvSpPr>
          <p:cNvPr id="6" name="Freeform 6"/>
          <p:cNvSpPr/>
          <p:nvPr/>
        </p:nvSpPr>
        <p:spPr>
          <a:xfrm>
            <a:off x="15017598" y="0"/>
            <a:ext cx="1531292" cy="1082267"/>
          </a:xfrm>
          <a:custGeom>
            <a:avLst/>
            <a:gdLst/>
            <a:ahLst/>
            <a:cxnLst/>
            <a:rect l="l" t="t" r="r" b="b"/>
            <a:pathLst>
              <a:path w="1531292" h="1082267">
                <a:moveTo>
                  <a:pt x="0" y="0"/>
                </a:moveTo>
                <a:lnTo>
                  <a:pt x="1531292" y="0"/>
                </a:lnTo>
                <a:lnTo>
                  <a:pt x="1531292" y="1082267"/>
                </a:lnTo>
                <a:lnTo>
                  <a:pt x="0" y="1082267"/>
                </a:lnTo>
                <a:lnTo>
                  <a:pt x="0" y="0"/>
                </a:lnTo>
                <a:close/>
              </a:path>
            </a:pathLst>
          </a:custGeom>
          <a:blipFill>
            <a:blip r:embed="rId4"/>
            <a:stretch>
              <a:fillRect/>
            </a:stretch>
          </a:blipFill>
        </p:spPr>
      </p:sp>
      <p:sp>
        <p:nvSpPr>
          <p:cNvPr id="7" name="Freeform 7"/>
          <p:cNvSpPr/>
          <p:nvPr/>
        </p:nvSpPr>
        <p:spPr>
          <a:xfrm>
            <a:off x="16537952" y="0"/>
            <a:ext cx="1750048" cy="1289974"/>
          </a:xfrm>
          <a:custGeom>
            <a:avLst/>
            <a:gdLst/>
            <a:ahLst/>
            <a:cxnLst/>
            <a:rect l="l" t="t" r="r" b="b"/>
            <a:pathLst>
              <a:path w="1750048" h="1289974">
                <a:moveTo>
                  <a:pt x="0" y="0"/>
                </a:moveTo>
                <a:lnTo>
                  <a:pt x="1750048" y="0"/>
                </a:lnTo>
                <a:lnTo>
                  <a:pt x="1750048" y="1289974"/>
                </a:lnTo>
                <a:lnTo>
                  <a:pt x="0" y="1289974"/>
                </a:lnTo>
                <a:lnTo>
                  <a:pt x="0" y="0"/>
                </a:lnTo>
                <a:close/>
              </a:path>
            </a:pathLst>
          </a:custGeom>
          <a:blipFill>
            <a:blip r:embed="rId5"/>
            <a:stretch>
              <a:fillRect/>
            </a:stretch>
          </a:blipFill>
        </p:spPr>
      </p:sp>
      <p:sp>
        <p:nvSpPr>
          <p:cNvPr id="8" name="Freeform 8"/>
          <p:cNvSpPr/>
          <p:nvPr/>
        </p:nvSpPr>
        <p:spPr>
          <a:xfrm>
            <a:off x="16756708" y="1279043"/>
            <a:ext cx="1104718" cy="1082267"/>
          </a:xfrm>
          <a:custGeom>
            <a:avLst/>
            <a:gdLst/>
            <a:ahLst/>
            <a:cxnLst/>
            <a:rect l="l" t="t" r="r" b="b"/>
            <a:pathLst>
              <a:path w="1104718" h="1082267">
                <a:moveTo>
                  <a:pt x="0" y="0"/>
                </a:moveTo>
                <a:lnTo>
                  <a:pt x="1104718" y="0"/>
                </a:lnTo>
                <a:lnTo>
                  <a:pt x="1104718" y="1082266"/>
                </a:lnTo>
                <a:lnTo>
                  <a:pt x="0" y="1082266"/>
                </a:lnTo>
                <a:lnTo>
                  <a:pt x="0" y="0"/>
                </a:lnTo>
                <a:close/>
              </a:path>
            </a:pathLst>
          </a:custGeom>
          <a:blipFill>
            <a:blip r:embed="rId6"/>
            <a:stretch>
              <a:fillRect/>
            </a:stretch>
          </a:blipFill>
        </p:spPr>
      </p:sp>
      <p:sp>
        <p:nvSpPr>
          <p:cNvPr id="9" name="Freeform 9"/>
          <p:cNvSpPr/>
          <p:nvPr/>
        </p:nvSpPr>
        <p:spPr>
          <a:xfrm>
            <a:off x="645330" y="2142670"/>
            <a:ext cx="9154938" cy="6220301"/>
          </a:xfrm>
          <a:custGeom>
            <a:avLst/>
            <a:gdLst/>
            <a:ahLst/>
            <a:cxnLst/>
            <a:rect l="l" t="t" r="r" b="b"/>
            <a:pathLst>
              <a:path w="9154938" h="6220301">
                <a:moveTo>
                  <a:pt x="0" y="0"/>
                </a:moveTo>
                <a:lnTo>
                  <a:pt x="9154938" y="0"/>
                </a:lnTo>
                <a:lnTo>
                  <a:pt x="9154938" y="6220300"/>
                </a:lnTo>
                <a:lnTo>
                  <a:pt x="0" y="6220300"/>
                </a:lnTo>
                <a:lnTo>
                  <a:pt x="0" y="0"/>
                </a:lnTo>
                <a:close/>
              </a:path>
            </a:pathLst>
          </a:custGeom>
          <a:blipFill>
            <a:blip r:embed="rId7"/>
            <a:stretch>
              <a:fillRect/>
            </a:stretch>
          </a:blipFill>
        </p:spPr>
      </p:sp>
      <p:sp>
        <p:nvSpPr>
          <p:cNvPr id="10" name="Freeform 10"/>
          <p:cNvSpPr/>
          <p:nvPr/>
        </p:nvSpPr>
        <p:spPr>
          <a:xfrm>
            <a:off x="645330" y="2142670"/>
            <a:ext cx="9154938" cy="644987"/>
          </a:xfrm>
          <a:custGeom>
            <a:avLst/>
            <a:gdLst/>
            <a:ahLst/>
            <a:cxnLst/>
            <a:rect l="l" t="t" r="r" b="b"/>
            <a:pathLst>
              <a:path w="9154938" h="644987">
                <a:moveTo>
                  <a:pt x="0" y="0"/>
                </a:moveTo>
                <a:lnTo>
                  <a:pt x="9154938" y="0"/>
                </a:lnTo>
                <a:lnTo>
                  <a:pt x="9154938" y="644987"/>
                </a:lnTo>
                <a:lnTo>
                  <a:pt x="0" y="644987"/>
                </a:lnTo>
                <a:lnTo>
                  <a:pt x="0" y="0"/>
                </a:lnTo>
                <a:close/>
              </a:path>
            </a:pathLst>
          </a:custGeom>
          <a:blipFill>
            <a:blip r:embed="rId8"/>
            <a:stretch>
              <a:fillRect/>
            </a:stretch>
          </a:blipFill>
        </p:spPr>
      </p:sp>
      <p:sp>
        <p:nvSpPr>
          <p:cNvPr id="11" name="Freeform 11"/>
          <p:cNvSpPr/>
          <p:nvPr/>
        </p:nvSpPr>
        <p:spPr>
          <a:xfrm>
            <a:off x="1520354" y="2776725"/>
            <a:ext cx="7623646" cy="3869923"/>
          </a:xfrm>
          <a:custGeom>
            <a:avLst/>
            <a:gdLst/>
            <a:ahLst/>
            <a:cxnLst/>
            <a:rect l="l" t="t" r="r" b="b"/>
            <a:pathLst>
              <a:path w="7623646" h="3869923">
                <a:moveTo>
                  <a:pt x="0" y="0"/>
                </a:moveTo>
                <a:lnTo>
                  <a:pt x="7623646" y="0"/>
                </a:lnTo>
                <a:lnTo>
                  <a:pt x="7623646" y="3869923"/>
                </a:lnTo>
                <a:lnTo>
                  <a:pt x="0" y="3869923"/>
                </a:lnTo>
                <a:lnTo>
                  <a:pt x="0" y="0"/>
                </a:lnTo>
                <a:close/>
              </a:path>
            </a:pathLst>
          </a:custGeom>
          <a:blipFill>
            <a:blip r:embed="rId9"/>
            <a:stretch>
              <a:fillRect/>
            </a:stretch>
          </a:blipFill>
        </p:spPr>
      </p:sp>
      <p:sp>
        <p:nvSpPr>
          <p:cNvPr id="12" name="Freeform 12"/>
          <p:cNvSpPr/>
          <p:nvPr/>
        </p:nvSpPr>
        <p:spPr>
          <a:xfrm>
            <a:off x="7831464" y="2776725"/>
            <a:ext cx="1968804" cy="1300906"/>
          </a:xfrm>
          <a:custGeom>
            <a:avLst/>
            <a:gdLst/>
            <a:ahLst/>
            <a:cxnLst/>
            <a:rect l="l" t="t" r="r" b="b"/>
            <a:pathLst>
              <a:path w="1968804" h="1300906">
                <a:moveTo>
                  <a:pt x="0" y="0"/>
                </a:moveTo>
                <a:lnTo>
                  <a:pt x="1968804" y="0"/>
                </a:lnTo>
                <a:lnTo>
                  <a:pt x="1968804" y="1300906"/>
                </a:lnTo>
                <a:lnTo>
                  <a:pt x="0" y="1300906"/>
                </a:lnTo>
                <a:lnTo>
                  <a:pt x="0" y="0"/>
                </a:lnTo>
                <a:close/>
              </a:path>
            </a:pathLst>
          </a:custGeom>
          <a:blipFill>
            <a:blip r:embed="rId10"/>
            <a:stretch>
              <a:fillRect/>
            </a:stretch>
          </a:blipFill>
        </p:spPr>
      </p:sp>
      <p:sp>
        <p:nvSpPr>
          <p:cNvPr id="13" name="Freeform 13"/>
          <p:cNvSpPr/>
          <p:nvPr/>
        </p:nvSpPr>
        <p:spPr>
          <a:xfrm>
            <a:off x="8050220" y="3214004"/>
            <a:ext cx="448450" cy="437279"/>
          </a:xfrm>
          <a:custGeom>
            <a:avLst/>
            <a:gdLst/>
            <a:ahLst/>
            <a:cxnLst/>
            <a:rect l="l" t="t" r="r" b="b"/>
            <a:pathLst>
              <a:path w="448450" h="437279">
                <a:moveTo>
                  <a:pt x="0" y="0"/>
                </a:moveTo>
                <a:lnTo>
                  <a:pt x="448450" y="0"/>
                </a:lnTo>
                <a:lnTo>
                  <a:pt x="448450" y="437280"/>
                </a:lnTo>
                <a:lnTo>
                  <a:pt x="0" y="437280"/>
                </a:lnTo>
                <a:lnTo>
                  <a:pt x="0" y="0"/>
                </a:lnTo>
                <a:close/>
              </a:path>
            </a:pathLst>
          </a:custGeom>
          <a:blipFill>
            <a:blip r:embed="rId11"/>
            <a:stretch>
              <a:fillRect/>
            </a:stretch>
          </a:blipFill>
        </p:spPr>
      </p:sp>
      <p:sp>
        <p:nvSpPr>
          <p:cNvPr id="14" name="Freeform 14"/>
          <p:cNvSpPr/>
          <p:nvPr/>
        </p:nvSpPr>
        <p:spPr>
          <a:xfrm>
            <a:off x="8050220" y="3640352"/>
            <a:ext cx="448450" cy="218640"/>
          </a:xfrm>
          <a:custGeom>
            <a:avLst/>
            <a:gdLst/>
            <a:ahLst/>
            <a:cxnLst/>
            <a:rect l="l" t="t" r="r" b="b"/>
            <a:pathLst>
              <a:path w="448450" h="218640">
                <a:moveTo>
                  <a:pt x="0" y="0"/>
                </a:moveTo>
                <a:lnTo>
                  <a:pt x="448450" y="0"/>
                </a:lnTo>
                <a:lnTo>
                  <a:pt x="448450" y="218639"/>
                </a:lnTo>
                <a:lnTo>
                  <a:pt x="0" y="218639"/>
                </a:lnTo>
                <a:lnTo>
                  <a:pt x="0" y="0"/>
                </a:lnTo>
                <a:close/>
              </a:path>
            </a:pathLst>
          </a:custGeom>
          <a:blipFill>
            <a:blip r:embed="rId12"/>
            <a:stretch>
              <a:fillRect/>
            </a:stretch>
          </a:blipFill>
        </p:spPr>
      </p:sp>
      <p:sp>
        <p:nvSpPr>
          <p:cNvPr id="15" name="Freeform 15"/>
          <p:cNvSpPr/>
          <p:nvPr/>
        </p:nvSpPr>
        <p:spPr>
          <a:xfrm>
            <a:off x="645330" y="7062064"/>
            <a:ext cx="9154938" cy="1300906"/>
          </a:xfrm>
          <a:custGeom>
            <a:avLst/>
            <a:gdLst/>
            <a:ahLst/>
            <a:cxnLst/>
            <a:rect l="l" t="t" r="r" b="b"/>
            <a:pathLst>
              <a:path w="9154938" h="1300906">
                <a:moveTo>
                  <a:pt x="0" y="0"/>
                </a:moveTo>
                <a:lnTo>
                  <a:pt x="9154938" y="0"/>
                </a:lnTo>
                <a:lnTo>
                  <a:pt x="9154938" y="1300906"/>
                </a:lnTo>
                <a:lnTo>
                  <a:pt x="0" y="1300906"/>
                </a:lnTo>
                <a:lnTo>
                  <a:pt x="0" y="0"/>
                </a:lnTo>
                <a:close/>
              </a:path>
            </a:pathLst>
          </a:custGeom>
          <a:blipFill>
            <a:blip r:embed="rId13"/>
            <a:stretch>
              <a:fillRect/>
            </a:stretch>
          </a:blipFill>
        </p:spPr>
      </p:sp>
      <p:sp>
        <p:nvSpPr>
          <p:cNvPr id="16" name="Freeform 16"/>
          <p:cNvSpPr/>
          <p:nvPr/>
        </p:nvSpPr>
        <p:spPr>
          <a:xfrm>
            <a:off x="1082842" y="7280704"/>
            <a:ext cx="885962" cy="863627"/>
          </a:xfrm>
          <a:custGeom>
            <a:avLst/>
            <a:gdLst/>
            <a:ahLst/>
            <a:cxnLst/>
            <a:rect l="l" t="t" r="r" b="b"/>
            <a:pathLst>
              <a:path w="885962" h="863627">
                <a:moveTo>
                  <a:pt x="0" y="0"/>
                </a:moveTo>
                <a:lnTo>
                  <a:pt x="885962" y="0"/>
                </a:lnTo>
                <a:lnTo>
                  <a:pt x="885962" y="863626"/>
                </a:lnTo>
                <a:lnTo>
                  <a:pt x="0" y="863626"/>
                </a:lnTo>
                <a:lnTo>
                  <a:pt x="0" y="0"/>
                </a:lnTo>
                <a:close/>
              </a:path>
            </a:pathLst>
          </a:custGeom>
          <a:blipFill>
            <a:blip r:embed="rId14"/>
            <a:stretch>
              <a:fillRect/>
            </a:stretch>
          </a:blipFill>
        </p:spPr>
      </p:sp>
      <p:sp>
        <p:nvSpPr>
          <p:cNvPr id="17" name="TextBox 17"/>
          <p:cNvSpPr txBox="1"/>
          <p:nvPr/>
        </p:nvSpPr>
        <p:spPr>
          <a:xfrm>
            <a:off x="2029707" y="7293205"/>
            <a:ext cx="5984010" cy="313320"/>
          </a:xfrm>
          <a:prstGeom prst="rect">
            <a:avLst/>
          </a:prstGeom>
        </p:spPr>
        <p:txBody>
          <a:bodyPr lIns="0" tIns="0" rIns="0" bIns="0" rtlCol="0" anchor="t">
            <a:spAutoFit/>
          </a:bodyPr>
          <a:lstStyle/>
          <a:p>
            <a:pPr algn="l">
              <a:lnSpc>
                <a:spcPts val="2597"/>
              </a:lnSpc>
            </a:pPr>
            <a:r>
              <a:rPr lang="en-US" sz="1924" b="1" spc="-29">
                <a:solidFill>
                  <a:srgbClr val="486889"/>
                </a:solidFill>
                <a:latin typeface="Assistant Semi-Bold"/>
                <a:ea typeface="Assistant Semi-Bold"/>
                <a:cs typeface="Assistant Semi-Bold"/>
                <a:sym typeface="Assistant Semi-Bold"/>
              </a:rPr>
              <a:t>Most attrition happens at younger ages, especially 18–34.</a:t>
            </a:r>
          </a:p>
        </p:txBody>
      </p:sp>
      <p:sp>
        <p:nvSpPr>
          <p:cNvPr id="18" name="TextBox 18"/>
          <p:cNvSpPr txBox="1"/>
          <p:nvPr/>
        </p:nvSpPr>
        <p:spPr>
          <a:xfrm>
            <a:off x="2025049" y="7684787"/>
            <a:ext cx="6449758" cy="313320"/>
          </a:xfrm>
          <a:prstGeom prst="rect">
            <a:avLst/>
          </a:prstGeom>
        </p:spPr>
        <p:txBody>
          <a:bodyPr lIns="0" tIns="0" rIns="0" bIns="0" rtlCol="0" anchor="t">
            <a:spAutoFit/>
          </a:bodyPr>
          <a:lstStyle/>
          <a:p>
            <a:pPr algn="l">
              <a:lnSpc>
                <a:spcPts val="2597"/>
              </a:lnSpc>
            </a:pPr>
            <a:r>
              <a:rPr lang="en-US" sz="1924" b="1" spc="-29">
                <a:solidFill>
                  <a:srgbClr val="333333"/>
                </a:solidFill>
                <a:latin typeface="Assistant Semi-Bold"/>
                <a:ea typeface="Assistant Semi-Bold"/>
                <a:cs typeface="Assistant Semi-Bold"/>
                <a:sym typeface="Assistant Semi-Bold"/>
              </a:rPr>
              <a:t>After age 40, the share of employees who leave drops sharply.</a:t>
            </a:r>
          </a:p>
        </p:txBody>
      </p:sp>
      <p:sp>
        <p:nvSpPr>
          <p:cNvPr id="19" name="Freeform 19"/>
          <p:cNvSpPr/>
          <p:nvPr/>
        </p:nvSpPr>
        <p:spPr>
          <a:xfrm>
            <a:off x="10008086" y="2142670"/>
            <a:ext cx="7634584" cy="2787657"/>
          </a:xfrm>
          <a:custGeom>
            <a:avLst/>
            <a:gdLst/>
            <a:ahLst/>
            <a:cxnLst/>
            <a:rect l="l" t="t" r="r" b="b"/>
            <a:pathLst>
              <a:path w="7634584" h="2787657">
                <a:moveTo>
                  <a:pt x="0" y="0"/>
                </a:moveTo>
                <a:lnTo>
                  <a:pt x="7634584" y="0"/>
                </a:lnTo>
                <a:lnTo>
                  <a:pt x="7634584" y="2787656"/>
                </a:lnTo>
                <a:lnTo>
                  <a:pt x="0" y="2787656"/>
                </a:lnTo>
                <a:lnTo>
                  <a:pt x="0" y="0"/>
                </a:lnTo>
                <a:close/>
              </a:path>
            </a:pathLst>
          </a:custGeom>
          <a:blipFill>
            <a:blip r:embed="rId15"/>
            <a:stretch>
              <a:fillRect/>
            </a:stretch>
          </a:blipFill>
        </p:spPr>
      </p:sp>
      <p:sp>
        <p:nvSpPr>
          <p:cNvPr id="20" name="Freeform 20"/>
          <p:cNvSpPr/>
          <p:nvPr/>
        </p:nvSpPr>
        <p:spPr>
          <a:xfrm>
            <a:off x="10226842" y="2350377"/>
            <a:ext cx="1531292" cy="1508614"/>
          </a:xfrm>
          <a:custGeom>
            <a:avLst/>
            <a:gdLst/>
            <a:ahLst/>
            <a:cxnLst/>
            <a:rect l="l" t="t" r="r" b="b"/>
            <a:pathLst>
              <a:path w="1531292" h="1508614">
                <a:moveTo>
                  <a:pt x="0" y="0"/>
                </a:moveTo>
                <a:lnTo>
                  <a:pt x="1531292" y="0"/>
                </a:lnTo>
                <a:lnTo>
                  <a:pt x="1531292" y="1508614"/>
                </a:lnTo>
                <a:lnTo>
                  <a:pt x="0" y="1508614"/>
                </a:lnTo>
                <a:lnTo>
                  <a:pt x="0" y="0"/>
                </a:lnTo>
                <a:close/>
              </a:path>
            </a:pathLst>
          </a:custGeom>
          <a:blipFill>
            <a:blip r:embed="rId16"/>
            <a:stretch>
              <a:fillRect/>
            </a:stretch>
          </a:blipFill>
        </p:spPr>
      </p:sp>
      <p:sp>
        <p:nvSpPr>
          <p:cNvPr id="21" name="TextBox 21"/>
          <p:cNvSpPr txBox="1"/>
          <p:nvPr/>
        </p:nvSpPr>
        <p:spPr>
          <a:xfrm>
            <a:off x="11847270" y="2289317"/>
            <a:ext cx="2028489" cy="506353"/>
          </a:xfrm>
          <a:prstGeom prst="rect">
            <a:avLst/>
          </a:prstGeom>
        </p:spPr>
        <p:txBody>
          <a:bodyPr lIns="0" tIns="0" rIns="0" bIns="0" rtlCol="0" anchor="t">
            <a:spAutoFit/>
          </a:bodyPr>
          <a:lstStyle/>
          <a:p>
            <a:pPr algn="l">
              <a:lnSpc>
                <a:spcPts val="4187"/>
              </a:lnSpc>
            </a:pPr>
            <a:r>
              <a:rPr lang="en-US" sz="3102" b="1" spc="-46">
                <a:solidFill>
                  <a:srgbClr val="F0F0F0"/>
                </a:solidFill>
                <a:latin typeface="Assistant Bold"/>
                <a:ea typeface="Assistant Bold"/>
                <a:cs typeface="Assistant Bold"/>
                <a:sym typeface="Assistant Bold"/>
              </a:rPr>
              <a:t>Key Pattern</a:t>
            </a:r>
          </a:p>
        </p:txBody>
      </p:sp>
      <p:sp>
        <p:nvSpPr>
          <p:cNvPr id="22" name="TextBox 22"/>
          <p:cNvSpPr txBox="1"/>
          <p:nvPr/>
        </p:nvSpPr>
        <p:spPr>
          <a:xfrm>
            <a:off x="11815849" y="2901065"/>
            <a:ext cx="5170585" cy="1564242"/>
          </a:xfrm>
          <a:prstGeom prst="rect">
            <a:avLst/>
          </a:prstGeom>
        </p:spPr>
        <p:txBody>
          <a:bodyPr lIns="0" tIns="0" rIns="0" bIns="0" rtlCol="0" anchor="t">
            <a:spAutoFit/>
          </a:bodyPr>
          <a:lstStyle/>
          <a:p>
            <a:pPr algn="l">
              <a:lnSpc>
                <a:spcPts val="3173"/>
              </a:lnSpc>
            </a:pPr>
            <a:r>
              <a:rPr lang="en-US" sz="2351" b="1" spc="-35">
                <a:solidFill>
                  <a:srgbClr val="F0F0F0"/>
                </a:solidFill>
                <a:latin typeface="Assistant Semi-Bold"/>
                <a:ea typeface="Assistant Semi-Bold"/>
                <a:cs typeface="Assistant Semi-Bold"/>
                <a:sym typeface="Assistant Semi-Bold"/>
              </a:rPr>
              <a:t>Attrition is concentrated among younger employees, especially ages 18–34.</a:t>
            </a:r>
          </a:p>
          <a:p>
            <a:pPr algn="l">
              <a:lnSpc>
                <a:spcPts val="3173"/>
              </a:lnSpc>
            </a:pPr>
            <a:r>
              <a:rPr lang="en-US" sz="2351" b="1" spc="-35">
                <a:solidFill>
                  <a:srgbClr val="F0F0F0"/>
                </a:solidFill>
                <a:latin typeface="Assistant Semi-Bold"/>
                <a:ea typeface="Assistant Semi-Bold"/>
                <a:cs typeface="Assistant Semi-Bold"/>
                <a:sym typeface="Assistant Semi-Bold"/>
              </a:rPr>
              <a:t>The share of employees who leave declines sharply after age 40.</a:t>
            </a:r>
          </a:p>
        </p:txBody>
      </p:sp>
      <p:sp>
        <p:nvSpPr>
          <p:cNvPr id="23" name="Freeform 23"/>
          <p:cNvSpPr/>
          <p:nvPr/>
        </p:nvSpPr>
        <p:spPr>
          <a:xfrm>
            <a:off x="10226842" y="5138034"/>
            <a:ext cx="1104718" cy="1082267"/>
          </a:xfrm>
          <a:custGeom>
            <a:avLst/>
            <a:gdLst/>
            <a:ahLst/>
            <a:cxnLst/>
            <a:rect l="l" t="t" r="r" b="b"/>
            <a:pathLst>
              <a:path w="1104718" h="1082267">
                <a:moveTo>
                  <a:pt x="0" y="0"/>
                </a:moveTo>
                <a:lnTo>
                  <a:pt x="1104718" y="0"/>
                </a:lnTo>
                <a:lnTo>
                  <a:pt x="1104718" y="1082267"/>
                </a:lnTo>
                <a:lnTo>
                  <a:pt x="0" y="1082267"/>
                </a:lnTo>
                <a:lnTo>
                  <a:pt x="0" y="0"/>
                </a:lnTo>
                <a:close/>
              </a:path>
            </a:pathLst>
          </a:custGeom>
          <a:blipFill>
            <a:blip r:embed="rId17"/>
            <a:stretch>
              <a:fillRect/>
            </a:stretch>
          </a:blipFill>
        </p:spPr>
      </p:sp>
      <p:sp>
        <p:nvSpPr>
          <p:cNvPr id="24" name="TextBox 24"/>
          <p:cNvSpPr txBox="1"/>
          <p:nvPr/>
        </p:nvSpPr>
        <p:spPr>
          <a:xfrm>
            <a:off x="11618258" y="5079656"/>
            <a:ext cx="3498380" cy="391888"/>
          </a:xfrm>
          <a:prstGeom prst="rect">
            <a:avLst/>
          </a:prstGeom>
        </p:spPr>
        <p:txBody>
          <a:bodyPr lIns="0" tIns="0" rIns="0" bIns="0" rtlCol="0" anchor="t">
            <a:spAutoFit/>
          </a:bodyPr>
          <a:lstStyle/>
          <a:p>
            <a:pPr algn="l">
              <a:lnSpc>
                <a:spcPts val="3356"/>
              </a:lnSpc>
            </a:pPr>
            <a:r>
              <a:rPr lang="en-US" sz="2487" b="1" spc="-37">
                <a:solidFill>
                  <a:srgbClr val="486889"/>
                </a:solidFill>
                <a:latin typeface="Assistant Bold"/>
                <a:ea typeface="Assistant Bold"/>
                <a:cs typeface="Assistant Bold"/>
                <a:sym typeface="Assistant Bold"/>
              </a:rPr>
              <a:t>Income (Monthly Median)</a:t>
            </a:r>
          </a:p>
        </p:txBody>
      </p:sp>
      <p:sp>
        <p:nvSpPr>
          <p:cNvPr id="25" name="TextBox 25"/>
          <p:cNvSpPr txBox="1"/>
          <p:nvPr/>
        </p:nvSpPr>
        <p:spPr>
          <a:xfrm>
            <a:off x="11606151" y="5491530"/>
            <a:ext cx="4709132" cy="778847"/>
          </a:xfrm>
          <a:prstGeom prst="rect">
            <a:avLst/>
          </a:prstGeom>
        </p:spPr>
        <p:txBody>
          <a:bodyPr lIns="0" tIns="0" rIns="0" bIns="0" rtlCol="0" anchor="t">
            <a:spAutoFit/>
          </a:bodyPr>
          <a:lstStyle/>
          <a:p>
            <a:pPr algn="l">
              <a:lnSpc>
                <a:spcPts val="3173"/>
              </a:lnSpc>
            </a:pPr>
            <a:r>
              <a:rPr lang="en-US" sz="2351" b="1" spc="-35">
                <a:solidFill>
                  <a:srgbClr val="333333"/>
                </a:solidFill>
                <a:latin typeface="Assistant Semi-Bold"/>
                <a:ea typeface="Assistant Semi-Bold"/>
                <a:cs typeface="Assistant Semi-Bold"/>
                <a:sym typeface="Assistant Semi-Bold"/>
              </a:rPr>
              <a:t>Employees who leave earn less.</a:t>
            </a:r>
          </a:p>
          <a:p>
            <a:pPr algn="l">
              <a:lnSpc>
                <a:spcPts val="3173"/>
              </a:lnSpc>
            </a:pPr>
            <a:r>
              <a:rPr lang="en-US" sz="2351" b="1" spc="-35">
                <a:solidFill>
                  <a:srgbClr val="333333"/>
                </a:solidFill>
                <a:latin typeface="Assistant Semi-Bold"/>
                <a:ea typeface="Assistant Semi-Bold"/>
                <a:cs typeface="Assistant Semi-Bold"/>
                <a:sym typeface="Assistant Semi-Bold"/>
              </a:rPr>
              <a:t>-$3,200 (leavers) vs. ~$5,200 (stayers)</a:t>
            </a:r>
          </a:p>
        </p:txBody>
      </p:sp>
      <p:sp>
        <p:nvSpPr>
          <p:cNvPr id="26" name="Freeform 26"/>
          <p:cNvSpPr/>
          <p:nvPr/>
        </p:nvSpPr>
        <p:spPr>
          <a:xfrm>
            <a:off x="10008086" y="6428009"/>
            <a:ext cx="7634584" cy="218640"/>
          </a:xfrm>
          <a:custGeom>
            <a:avLst/>
            <a:gdLst/>
            <a:ahLst/>
            <a:cxnLst/>
            <a:rect l="l" t="t" r="r" b="b"/>
            <a:pathLst>
              <a:path w="7634584" h="218640">
                <a:moveTo>
                  <a:pt x="0" y="0"/>
                </a:moveTo>
                <a:lnTo>
                  <a:pt x="7634584" y="0"/>
                </a:lnTo>
                <a:lnTo>
                  <a:pt x="7634584" y="218639"/>
                </a:lnTo>
                <a:lnTo>
                  <a:pt x="0" y="218639"/>
                </a:lnTo>
                <a:lnTo>
                  <a:pt x="0" y="0"/>
                </a:lnTo>
                <a:close/>
              </a:path>
            </a:pathLst>
          </a:custGeom>
          <a:blipFill>
            <a:blip r:embed="rId18"/>
            <a:stretch>
              <a:fillRect/>
            </a:stretch>
          </a:blipFill>
        </p:spPr>
      </p:sp>
      <p:sp>
        <p:nvSpPr>
          <p:cNvPr id="27" name="Freeform 27"/>
          <p:cNvSpPr/>
          <p:nvPr/>
        </p:nvSpPr>
        <p:spPr>
          <a:xfrm>
            <a:off x="10226842" y="6635716"/>
            <a:ext cx="1104718" cy="1300906"/>
          </a:xfrm>
          <a:custGeom>
            <a:avLst/>
            <a:gdLst/>
            <a:ahLst/>
            <a:cxnLst/>
            <a:rect l="l" t="t" r="r" b="b"/>
            <a:pathLst>
              <a:path w="1104718" h="1300906">
                <a:moveTo>
                  <a:pt x="0" y="0"/>
                </a:moveTo>
                <a:lnTo>
                  <a:pt x="1104718" y="0"/>
                </a:lnTo>
                <a:lnTo>
                  <a:pt x="1104718" y="1300907"/>
                </a:lnTo>
                <a:lnTo>
                  <a:pt x="0" y="1300907"/>
                </a:lnTo>
                <a:lnTo>
                  <a:pt x="0" y="0"/>
                </a:lnTo>
                <a:close/>
              </a:path>
            </a:pathLst>
          </a:custGeom>
          <a:blipFill>
            <a:blip r:embed="rId19"/>
            <a:stretch>
              <a:fillRect/>
            </a:stretch>
          </a:blipFill>
        </p:spPr>
      </p:sp>
      <p:sp>
        <p:nvSpPr>
          <p:cNvPr id="28" name="TextBox 28"/>
          <p:cNvSpPr txBox="1"/>
          <p:nvPr/>
        </p:nvSpPr>
        <p:spPr>
          <a:xfrm>
            <a:off x="11630697" y="6736348"/>
            <a:ext cx="2254503" cy="391888"/>
          </a:xfrm>
          <a:prstGeom prst="rect">
            <a:avLst/>
          </a:prstGeom>
        </p:spPr>
        <p:txBody>
          <a:bodyPr lIns="0" tIns="0" rIns="0" bIns="0" rtlCol="0" anchor="t">
            <a:spAutoFit/>
          </a:bodyPr>
          <a:lstStyle/>
          <a:p>
            <a:pPr algn="l">
              <a:lnSpc>
                <a:spcPts val="3356"/>
              </a:lnSpc>
            </a:pPr>
            <a:r>
              <a:rPr lang="en-US" sz="2487" b="1" spc="-37">
                <a:solidFill>
                  <a:srgbClr val="486889"/>
                </a:solidFill>
                <a:latin typeface="Assistant Bold"/>
                <a:ea typeface="Assistant Bold"/>
                <a:cs typeface="Assistant Bold"/>
                <a:sym typeface="Assistant Bold"/>
              </a:rPr>
              <a:t>Tenure (Median)</a:t>
            </a:r>
          </a:p>
        </p:txBody>
      </p:sp>
      <p:sp>
        <p:nvSpPr>
          <p:cNvPr id="29" name="TextBox 29"/>
          <p:cNvSpPr txBox="1"/>
          <p:nvPr/>
        </p:nvSpPr>
        <p:spPr>
          <a:xfrm>
            <a:off x="11599279" y="7133162"/>
            <a:ext cx="5396301" cy="778847"/>
          </a:xfrm>
          <a:prstGeom prst="rect">
            <a:avLst/>
          </a:prstGeom>
        </p:spPr>
        <p:txBody>
          <a:bodyPr lIns="0" tIns="0" rIns="0" bIns="0" rtlCol="0" anchor="t">
            <a:spAutoFit/>
          </a:bodyPr>
          <a:lstStyle/>
          <a:p>
            <a:pPr algn="l">
              <a:lnSpc>
                <a:spcPts val="3173"/>
              </a:lnSpc>
            </a:pPr>
            <a:r>
              <a:rPr lang="en-US" sz="2351" b="1" spc="-35">
                <a:solidFill>
                  <a:srgbClr val="333333"/>
                </a:solidFill>
                <a:latin typeface="Assistant Semi-Bold"/>
                <a:ea typeface="Assistant Semi-Bold"/>
                <a:cs typeface="Assistant Semi-Bold"/>
                <a:sym typeface="Assistant Semi-Bold"/>
              </a:rPr>
              <a:t>Employees who leave have shorter tenure.</a:t>
            </a:r>
          </a:p>
          <a:p>
            <a:pPr algn="l">
              <a:lnSpc>
                <a:spcPts val="3173"/>
              </a:lnSpc>
            </a:pPr>
            <a:r>
              <a:rPr lang="en-US" sz="2351" b="1" spc="-35">
                <a:solidFill>
                  <a:srgbClr val="333333"/>
                </a:solidFill>
                <a:latin typeface="Assistant Semi-Bold"/>
                <a:ea typeface="Assistant Semi-Bold"/>
                <a:cs typeface="Assistant Semi-Bold"/>
                <a:sym typeface="Assistant Semi-Bold"/>
              </a:rPr>
              <a:t>~3 years (leavers) vs. ~6 years (stayers)</a:t>
            </a:r>
          </a:p>
        </p:txBody>
      </p:sp>
      <p:sp>
        <p:nvSpPr>
          <p:cNvPr id="30" name="Freeform 30"/>
          <p:cNvSpPr/>
          <p:nvPr/>
        </p:nvSpPr>
        <p:spPr>
          <a:xfrm>
            <a:off x="645330" y="8352038"/>
            <a:ext cx="14383206" cy="1727254"/>
          </a:xfrm>
          <a:custGeom>
            <a:avLst/>
            <a:gdLst/>
            <a:ahLst/>
            <a:cxnLst/>
            <a:rect l="l" t="t" r="r" b="b"/>
            <a:pathLst>
              <a:path w="14383206" h="1727254">
                <a:moveTo>
                  <a:pt x="0" y="0"/>
                </a:moveTo>
                <a:lnTo>
                  <a:pt x="14383206" y="0"/>
                </a:lnTo>
                <a:lnTo>
                  <a:pt x="14383206" y="1727254"/>
                </a:lnTo>
                <a:lnTo>
                  <a:pt x="0" y="1727254"/>
                </a:lnTo>
                <a:lnTo>
                  <a:pt x="0" y="0"/>
                </a:lnTo>
                <a:close/>
              </a:path>
            </a:pathLst>
          </a:custGeom>
          <a:blipFill>
            <a:blip r:embed="rId20"/>
            <a:stretch>
              <a:fillRect/>
            </a:stretch>
          </a:blipFill>
        </p:spPr>
      </p:sp>
      <p:sp>
        <p:nvSpPr>
          <p:cNvPr id="31" name="Freeform 31"/>
          <p:cNvSpPr/>
          <p:nvPr/>
        </p:nvSpPr>
        <p:spPr>
          <a:xfrm>
            <a:off x="864086" y="8570678"/>
            <a:ext cx="1531292" cy="1508614"/>
          </a:xfrm>
          <a:custGeom>
            <a:avLst/>
            <a:gdLst/>
            <a:ahLst/>
            <a:cxnLst/>
            <a:rect l="l" t="t" r="r" b="b"/>
            <a:pathLst>
              <a:path w="1531292" h="1508614">
                <a:moveTo>
                  <a:pt x="0" y="0"/>
                </a:moveTo>
                <a:lnTo>
                  <a:pt x="1531292" y="0"/>
                </a:lnTo>
                <a:lnTo>
                  <a:pt x="1531292" y="1508614"/>
                </a:lnTo>
                <a:lnTo>
                  <a:pt x="0" y="1508614"/>
                </a:lnTo>
                <a:lnTo>
                  <a:pt x="0" y="0"/>
                </a:lnTo>
                <a:close/>
              </a:path>
            </a:pathLst>
          </a:custGeom>
          <a:blipFill>
            <a:blip r:embed="rId21"/>
            <a:stretch>
              <a:fillRect/>
            </a:stretch>
          </a:blipFill>
        </p:spPr>
      </p:sp>
      <p:sp>
        <p:nvSpPr>
          <p:cNvPr id="32" name="TextBox 32"/>
          <p:cNvSpPr txBox="1"/>
          <p:nvPr/>
        </p:nvSpPr>
        <p:spPr>
          <a:xfrm>
            <a:off x="2813006" y="8603892"/>
            <a:ext cx="5342396" cy="391888"/>
          </a:xfrm>
          <a:prstGeom prst="rect">
            <a:avLst/>
          </a:prstGeom>
        </p:spPr>
        <p:txBody>
          <a:bodyPr lIns="0" tIns="0" rIns="0" bIns="0" rtlCol="0" anchor="t">
            <a:spAutoFit/>
          </a:bodyPr>
          <a:lstStyle/>
          <a:p>
            <a:pPr algn="l">
              <a:lnSpc>
                <a:spcPts val="3356"/>
              </a:lnSpc>
            </a:pPr>
            <a:r>
              <a:rPr lang="en-US" sz="2487" b="1" spc="-37">
                <a:solidFill>
                  <a:srgbClr val="486889"/>
                </a:solidFill>
                <a:latin typeface="Assistant Bold"/>
                <a:ea typeface="Assistant Bold"/>
                <a:cs typeface="Assistant Bold"/>
                <a:sym typeface="Assistant Bold"/>
              </a:rPr>
              <a:t>Takeaway (Association, Not Causation)</a:t>
            </a:r>
          </a:p>
        </p:txBody>
      </p:sp>
      <p:sp>
        <p:nvSpPr>
          <p:cNvPr id="33" name="TextBox 33"/>
          <p:cNvSpPr txBox="1"/>
          <p:nvPr/>
        </p:nvSpPr>
        <p:spPr>
          <a:xfrm>
            <a:off x="2761920" y="9060949"/>
            <a:ext cx="10451014" cy="778847"/>
          </a:xfrm>
          <a:prstGeom prst="rect">
            <a:avLst/>
          </a:prstGeom>
        </p:spPr>
        <p:txBody>
          <a:bodyPr lIns="0" tIns="0" rIns="0" bIns="0" rtlCol="0" anchor="t">
            <a:spAutoFit/>
          </a:bodyPr>
          <a:lstStyle/>
          <a:p>
            <a:pPr algn="l">
              <a:lnSpc>
                <a:spcPts val="3173"/>
              </a:lnSpc>
            </a:pPr>
            <a:r>
              <a:rPr lang="en-US" sz="2351" b="1" spc="-35">
                <a:solidFill>
                  <a:srgbClr val="333333"/>
                </a:solidFill>
                <a:latin typeface="Assistant Semi-Bold"/>
                <a:ea typeface="Assistant Semi-Bold"/>
                <a:cs typeface="Assistant Semi-Bold"/>
                <a:sym typeface="Assistant Semi-Bold"/>
              </a:rPr>
              <a:t>Younger employees with lower income and shorter tenure are more likely to leave.</a:t>
            </a:r>
          </a:p>
          <a:p>
            <a:pPr algn="l">
              <a:lnSpc>
                <a:spcPts val="3173"/>
              </a:lnSpc>
            </a:pPr>
            <a:r>
              <a:rPr lang="en-US" sz="2351" b="1" spc="-35">
                <a:solidFill>
                  <a:srgbClr val="333333"/>
                </a:solidFill>
                <a:latin typeface="Assistant Semi-Bold"/>
                <a:ea typeface="Assistant Semi-Bold"/>
                <a:cs typeface="Assistant Semi-Bold"/>
                <a:sym typeface="Assistant Semi-Bold"/>
              </a:rPr>
              <a:t>These factors are </a:t>
            </a:r>
            <a:r>
              <a:rPr lang="en-US" sz="2351" b="1" i="1" spc="-35">
                <a:solidFill>
                  <a:srgbClr val="486889"/>
                </a:solidFill>
                <a:latin typeface="Assistant Bold"/>
                <a:ea typeface="Assistant Bold"/>
                <a:cs typeface="Assistant Bold"/>
                <a:sym typeface="Assistant Bold"/>
              </a:rPr>
              <a:t>associated</a:t>
            </a:r>
            <a:r>
              <a:rPr lang="en-US" sz="2351" b="1" spc="-35">
                <a:solidFill>
                  <a:srgbClr val="333333"/>
                </a:solidFill>
                <a:latin typeface="Assistant Semi-Bold"/>
                <a:ea typeface="Assistant Semi-Bold"/>
                <a:cs typeface="Assistant Semi-Bold"/>
                <a:sym typeface="Assistant Semi-Bold"/>
              </a:rPr>
              <a:t> with attrition but </a:t>
            </a:r>
            <a:r>
              <a:rPr lang="en-US" sz="2351" b="1" i="1" spc="-35">
                <a:solidFill>
                  <a:srgbClr val="486889"/>
                </a:solidFill>
                <a:latin typeface="Assistant Bold"/>
                <a:ea typeface="Assistant Bold"/>
                <a:cs typeface="Assistant Bold"/>
                <a:sym typeface="Assistant Bold"/>
              </a:rPr>
              <a:t>do not prove</a:t>
            </a:r>
            <a:r>
              <a:rPr lang="en-US" sz="2351" b="1" spc="-35">
                <a:solidFill>
                  <a:srgbClr val="333333"/>
                </a:solidFill>
                <a:latin typeface="Assistant Semi-Bold"/>
                <a:ea typeface="Assistant Semi-Bold"/>
                <a:cs typeface="Assistant Semi-Bold"/>
                <a:sym typeface="Assistant Semi-Bold"/>
              </a:rPr>
              <a:t> they cause it.</a:t>
            </a:r>
          </a:p>
        </p:txBody>
      </p:sp>
      <p:sp>
        <p:nvSpPr>
          <p:cNvPr id="34" name="Freeform 34"/>
          <p:cNvSpPr/>
          <p:nvPr/>
        </p:nvSpPr>
        <p:spPr>
          <a:xfrm>
            <a:off x="15236354" y="8133399"/>
            <a:ext cx="3051646" cy="2153601"/>
          </a:xfrm>
          <a:custGeom>
            <a:avLst/>
            <a:gdLst/>
            <a:ahLst/>
            <a:cxnLst/>
            <a:rect l="l" t="t" r="r" b="b"/>
            <a:pathLst>
              <a:path w="3051646" h="2153601">
                <a:moveTo>
                  <a:pt x="0" y="0"/>
                </a:moveTo>
                <a:lnTo>
                  <a:pt x="3051646" y="0"/>
                </a:lnTo>
                <a:lnTo>
                  <a:pt x="3051646" y="2153601"/>
                </a:lnTo>
                <a:lnTo>
                  <a:pt x="0" y="2153601"/>
                </a:lnTo>
                <a:lnTo>
                  <a:pt x="0" y="0"/>
                </a:lnTo>
                <a:close/>
              </a:path>
            </a:pathLst>
          </a:custGeom>
          <a:blipFill>
            <a:blip r:embed="rId22"/>
            <a:stretch>
              <a:fillRect/>
            </a:stretch>
          </a:blipFill>
        </p:spPr>
      </p:sp>
      <p:sp>
        <p:nvSpPr>
          <p:cNvPr id="35" name="TextBox 35"/>
          <p:cNvSpPr txBox="1"/>
          <p:nvPr/>
        </p:nvSpPr>
        <p:spPr>
          <a:xfrm>
            <a:off x="1634133" y="2263062"/>
            <a:ext cx="7099102" cy="360600"/>
          </a:xfrm>
          <a:prstGeom prst="rect">
            <a:avLst/>
          </a:prstGeom>
        </p:spPr>
        <p:txBody>
          <a:bodyPr lIns="0" tIns="0" rIns="0" bIns="0" rtlCol="0" anchor="t">
            <a:spAutoFit/>
          </a:bodyPr>
          <a:lstStyle/>
          <a:p>
            <a:pPr algn="ctr">
              <a:lnSpc>
                <a:spcPts val="3043"/>
              </a:lnSpc>
            </a:pPr>
            <a:r>
              <a:rPr lang="en-US" sz="2254" b="1" spc="-34">
                <a:solidFill>
                  <a:srgbClr val="F0F0F0"/>
                </a:solidFill>
                <a:latin typeface="Assistant Semi-Bold"/>
                <a:ea typeface="Assistant Semi-Bold"/>
                <a:cs typeface="Assistant Semi-Bold"/>
                <a:sym typeface="Assistant Semi-Bold"/>
              </a:rPr>
              <a:t>Age Distribution by Attrition</a:t>
            </a:r>
          </a:p>
        </p:txBody>
      </p:sp>
      <p:sp>
        <p:nvSpPr>
          <p:cNvPr id="36" name="TextBox 36"/>
          <p:cNvSpPr txBox="1"/>
          <p:nvPr/>
        </p:nvSpPr>
        <p:spPr>
          <a:xfrm rot="-5400000">
            <a:off x="89290" y="4616412"/>
            <a:ext cx="1960910" cy="256087"/>
          </a:xfrm>
          <a:prstGeom prst="rect">
            <a:avLst/>
          </a:prstGeom>
        </p:spPr>
        <p:txBody>
          <a:bodyPr lIns="0" tIns="0" rIns="0" bIns="0" rtlCol="0" anchor="t">
            <a:spAutoFit/>
          </a:bodyPr>
          <a:lstStyle/>
          <a:p>
            <a:pPr algn="ctr">
              <a:lnSpc>
                <a:spcPts val="2182"/>
              </a:lnSpc>
            </a:pPr>
            <a:r>
              <a:rPr lang="en-US" sz="1617" b="1" spc="-24">
                <a:solidFill>
                  <a:srgbClr val="737373"/>
                </a:solidFill>
                <a:latin typeface="Assistant Semi-Bold"/>
                <a:ea typeface="Assistant Semi-Bold"/>
                <a:cs typeface="Assistant Semi-Bold"/>
                <a:sym typeface="Assistant Semi-Bold"/>
              </a:rPr>
              <a:t>Number of Employees</a:t>
            </a:r>
          </a:p>
        </p:txBody>
      </p:sp>
      <p:sp>
        <p:nvSpPr>
          <p:cNvPr id="37" name="TextBox 37"/>
          <p:cNvSpPr txBox="1"/>
          <p:nvPr/>
        </p:nvSpPr>
        <p:spPr>
          <a:xfrm>
            <a:off x="8590924" y="3311976"/>
            <a:ext cx="836507" cy="239573"/>
          </a:xfrm>
          <a:prstGeom prst="rect">
            <a:avLst/>
          </a:prstGeom>
        </p:spPr>
        <p:txBody>
          <a:bodyPr lIns="0" tIns="0" rIns="0" bIns="0" rtlCol="0" anchor="t">
            <a:spAutoFit/>
          </a:bodyPr>
          <a:lstStyle/>
          <a:p>
            <a:pPr algn="l">
              <a:lnSpc>
                <a:spcPts val="2087"/>
              </a:lnSpc>
            </a:pPr>
            <a:r>
              <a:rPr lang="en-US" sz="1546" b="1" spc="-23">
                <a:solidFill>
                  <a:srgbClr val="737373"/>
                </a:solidFill>
                <a:latin typeface="Assistant Semi-Bold"/>
                <a:ea typeface="Assistant Semi-Bold"/>
                <a:cs typeface="Assistant Semi-Bold"/>
                <a:sym typeface="Assistant Semi-Bold"/>
              </a:rPr>
              <a:t>0 (Stayed)</a:t>
            </a:r>
          </a:p>
        </p:txBody>
      </p:sp>
      <p:sp>
        <p:nvSpPr>
          <p:cNvPr id="38" name="TextBox 38"/>
          <p:cNvSpPr txBox="1"/>
          <p:nvPr/>
        </p:nvSpPr>
        <p:spPr>
          <a:xfrm>
            <a:off x="8593568" y="3583071"/>
            <a:ext cx="572143" cy="239573"/>
          </a:xfrm>
          <a:prstGeom prst="rect">
            <a:avLst/>
          </a:prstGeom>
        </p:spPr>
        <p:txBody>
          <a:bodyPr lIns="0" tIns="0" rIns="0" bIns="0" rtlCol="0" anchor="t">
            <a:spAutoFit/>
          </a:bodyPr>
          <a:lstStyle/>
          <a:p>
            <a:pPr algn="l">
              <a:lnSpc>
                <a:spcPts val="2087"/>
              </a:lnSpc>
            </a:pPr>
            <a:r>
              <a:rPr lang="en-US" sz="1546" b="1" spc="-23">
                <a:solidFill>
                  <a:srgbClr val="737373"/>
                </a:solidFill>
                <a:latin typeface="Assistant Semi-Bold"/>
                <a:ea typeface="Assistant Semi-Bold"/>
                <a:cs typeface="Assistant Semi-Bold"/>
                <a:sym typeface="Assistant Semi-Bold"/>
              </a:rPr>
              <a:t>1 (Left)</a:t>
            </a:r>
          </a:p>
        </p:txBody>
      </p:sp>
      <p:sp>
        <p:nvSpPr>
          <p:cNvPr id="39" name="TextBox 39"/>
          <p:cNvSpPr txBox="1"/>
          <p:nvPr/>
        </p:nvSpPr>
        <p:spPr>
          <a:xfrm>
            <a:off x="8083331" y="3025820"/>
            <a:ext cx="696632" cy="239573"/>
          </a:xfrm>
          <a:prstGeom prst="rect">
            <a:avLst/>
          </a:prstGeom>
        </p:spPr>
        <p:txBody>
          <a:bodyPr lIns="0" tIns="0" rIns="0" bIns="0" rtlCol="0" anchor="t">
            <a:spAutoFit/>
          </a:bodyPr>
          <a:lstStyle/>
          <a:p>
            <a:pPr algn="l">
              <a:lnSpc>
                <a:spcPts val="2087"/>
              </a:lnSpc>
            </a:pPr>
            <a:r>
              <a:rPr lang="en-US" sz="1546" b="1" spc="-23">
                <a:solidFill>
                  <a:srgbClr val="737373"/>
                </a:solidFill>
                <a:latin typeface="Assistant Semi-Bold"/>
                <a:ea typeface="Assistant Semi-Bold"/>
                <a:cs typeface="Assistant Semi-Bold"/>
                <a:sym typeface="Assistant Semi-Bold"/>
              </a:rPr>
              <a:t>Attrition</a:t>
            </a:r>
          </a:p>
        </p:txBody>
      </p:sp>
      <p:sp>
        <p:nvSpPr>
          <p:cNvPr id="40" name="TextBox 40"/>
          <p:cNvSpPr txBox="1"/>
          <p:nvPr/>
        </p:nvSpPr>
        <p:spPr>
          <a:xfrm>
            <a:off x="5300219" y="6745848"/>
            <a:ext cx="308068" cy="239573"/>
          </a:xfrm>
          <a:prstGeom prst="rect">
            <a:avLst/>
          </a:prstGeom>
        </p:spPr>
        <p:txBody>
          <a:bodyPr lIns="0" tIns="0" rIns="0" bIns="0" rtlCol="0" anchor="t">
            <a:spAutoFit/>
          </a:bodyPr>
          <a:lstStyle/>
          <a:p>
            <a:pPr algn="ctr">
              <a:lnSpc>
                <a:spcPts val="2087"/>
              </a:lnSpc>
            </a:pPr>
            <a:r>
              <a:rPr lang="en-US" sz="1546" b="1" spc="-23">
                <a:solidFill>
                  <a:srgbClr val="737373"/>
                </a:solidFill>
                <a:latin typeface="Assistant Semi-Bold"/>
                <a:ea typeface="Assistant Semi-Bold"/>
                <a:cs typeface="Assistant Semi-Bold"/>
                <a:sym typeface="Assistant Semi-Bold"/>
              </a:rPr>
              <a:t>Age</a:t>
            </a:r>
          </a:p>
        </p:txBody>
      </p:sp>
      <p:sp>
        <p:nvSpPr>
          <p:cNvPr id="41" name="TextBox 41"/>
          <p:cNvSpPr txBox="1"/>
          <p:nvPr/>
        </p:nvSpPr>
        <p:spPr>
          <a:xfrm>
            <a:off x="1876043" y="6519935"/>
            <a:ext cx="198765" cy="239573"/>
          </a:xfrm>
          <a:prstGeom prst="rect">
            <a:avLst/>
          </a:prstGeom>
        </p:spPr>
        <p:txBody>
          <a:bodyPr lIns="0" tIns="0" rIns="0" bIns="0" rtlCol="0" anchor="t">
            <a:spAutoFit/>
          </a:bodyPr>
          <a:lstStyle/>
          <a:p>
            <a:pPr algn="ctr">
              <a:lnSpc>
                <a:spcPts val="2087"/>
              </a:lnSpc>
            </a:pPr>
            <a:r>
              <a:rPr lang="en-US" sz="1546" b="1" spc="-23">
                <a:solidFill>
                  <a:srgbClr val="737373"/>
                </a:solidFill>
                <a:latin typeface="Assistant Semi-Bold"/>
                <a:ea typeface="Assistant Semi-Bold"/>
                <a:cs typeface="Assistant Semi-Bold"/>
                <a:sym typeface="Assistant Semi-Bold"/>
              </a:rPr>
              <a:t>20</a:t>
            </a:r>
          </a:p>
        </p:txBody>
      </p:sp>
      <p:sp>
        <p:nvSpPr>
          <p:cNvPr id="42" name="TextBox 42"/>
          <p:cNvSpPr txBox="1"/>
          <p:nvPr/>
        </p:nvSpPr>
        <p:spPr>
          <a:xfrm>
            <a:off x="3644121" y="6519935"/>
            <a:ext cx="198765" cy="239573"/>
          </a:xfrm>
          <a:prstGeom prst="rect">
            <a:avLst/>
          </a:prstGeom>
        </p:spPr>
        <p:txBody>
          <a:bodyPr lIns="0" tIns="0" rIns="0" bIns="0" rtlCol="0" anchor="t">
            <a:spAutoFit/>
          </a:bodyPr>
          <a:lstStyle/>
          <a:p>
            <a:pPr algn="ctr">
              <a:lnSpc>
                <a:spcPts val="2087"/>
              </a:lnSpc>
            </a:pPr>
            <a:r>
              <a:rPr lang="en-US" sz="1546" b="1" spc="-23">
                <a:solidFill>
                  <a:srgbClr val="737373"/>
                </a:solidFill>
                <a:latin typeface="Assistant Semi-Bold"/>
                <a:ea typeface="Assistant Semi-Bold"/>
                <a:cs typeface="Assistant Semi-Bold"/>
                <a:sym typeface="Assistant Semi-Bold"/>
              </a:rPr>
              <a:t>30</a:t>
            </a:r>
          </a:p>
        </p:txBody>
      </p:sp>
      <p:sp>
        <p:nvSpPr>
          <p:cNvPr id="43" name="TextBox 43"/>
          <p:cNvSpPr txBox="1"/>
          <p:nvPr/>
        </p:nvSpPr>
        <p:spPr>
          <a:xfrm>
            <a:off x="5546145" y="6519935"/>
            <a:ext cx="198765" cy="239573"/>
          </a:xfrm>
          <a:prstGeom prst="rect">
            <a:avLst/>
          </a:prstGeom>
        </p:spPr>
        <p:txBody>
          <a:bodyPr lIns="0" tIns="0" rIns="0" bIns="0" rtlCol="0" anchor="t">
            <a:spAutoFit/>
          </a:bodyPr>
          <a:lstStyle/>
          <a:p>
            <a:pPr algn="ctr">
              <a:lnSpc>
                <a:spcPts val="2087"/>
              </a:lnSpc>
            </a:pPr>
            <a:r>
              <a:rPr lang="en-US" sz="1546" b="1" spc="-23">
                <a:solidFill>
                  <a:srgbClr val="737373"/>
                </a:solidFill>
                <a:latin typeface="Assistant Semi-Bold"/>
                <a:ea typeface="Assistant Semi-Bold"/>
                <a:cs typeface="Assistant Semi-Bold"/>
                <a:sym typeface="Assistant Semi-Bold"/>
              </a:rPr>
              <a:t>40</a:t>
            </a:r>
          </a:p>
        </p:txBody>
      </p:sp>
      <p:sp>
        <p:nvSpPr>
          <p:cNvPr id="44" name="TextBox 44"/>
          <p:cNvSpPr txBox="1"/>
          <p:nvPr/>
        </p:nvSpPr>
        <p:spPr>
          <a:xfrm>
            <a:off x="7260645" y="6519935"/>
            <a:ext cx="198765" cy="239573"/>
          </a:xfrm>
          <a:prstGeom prst="rect">
            <a:avLst/>
          </a:prstGeom>
        </p:spPr>
        <p:txBody>
          <a:bodyPr lIns="0" tIns="0" rIns="0" bIns="0" rtlCol="0" anchor="t">
            <a:spAutoFit/>
          </a:bodyPr>
          <a:lstStyle/>
          <a:p>
            <a:pPr algn="ctr">
              <a:lnSpc>
                <a:spcPts val="2087"/>
              </a:lnSpc>
            </a:pPr>
            <a:r>
              <a:rPr lang="en-US" sz="1546" b="1" spc="-23">
                <a:solidFill>
                  <a:srgbClr val="737373"/>
                </a:solidFill>
                <a:latin typeface="Assistant Semi-Bold"/>
                <a:ea typeface="Assistant Semi-Bold"/>
                <a:cs typeface="Assistant Semi-Bold"/>
                <a:sym typeface="Assistant Semi-Bold"/>
              </a:rPr>
              <a:t>50</a:t>
            </a:r>
          </a:p>
        </p:txBody>
      </p:sp>
      <p:sp>
        <p:nvSpPr>
          <p:cNvPr id="45" name="TextBox 45"/>
          <p:cNvSpPr txBox="1"/>
          <p:nvPr/>
        </p:nvSpPr>
        <p:spPr>
          <a:xfrm>
            <a:off x="8948356" y="6519935"/>
            <a:ext cx="198765" cy="239573"/>
          </a:xfrm>
          <a:prstGeom prst="rect">
            <a:avLst/>
          </a:prstGeom>
        </p:spPr>
        <p:txBody>
          <a:bodyPr lIns="0" tIns="0" rIns="0" bIns="0" rtlCol="0" anchor="t">
            <a:spAutoFit/>
          </a:bodyPr>
          <a:lstStyle/>
          <a:p>
            <a:pPr algn="ctr">
              <a:lnSpc>
                <a:spcPts val="2087"/>
              </a:lnSpc>
            </a:pPr>
            <a:r>
              <a:rPr lang="en-US" sz="1546" b="1" spc="-23">
                <a:solidFill>
                  <a:srgbClr val="737373"/>
                </a:solidFill>
                <a:latin typeface="Assistant Semi-Bold"/>
                <a:ea typeface="Assistant Semi-Bold"/>
                <a:cs typeface="Assistant Semi-Bold"/>
                <a:sym typeface="Assistant Semi-Bold"/>
              </a:rPr>
              <a:t>60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sp>
        <p:nvSpPr>
          <p:cNvPr id="2" name="Freeform 2"/>
          <p:cNvSpPr/>
          <p:nvPr/>
        </p:nvSpPr>
        <p:spPr>
          <a:xfrm rot="435982">
            <a:off x="14459420" y="6831570"/>
            <a:ext cx="4360053" cy="4114800"/>
          </a:xfrm>
          <a:custGeom>
            <a:avLst/>
            <a:gdLst/>
            <a:ahLst/>
            <a:cxnLst/>
            <a:rect l="l" t="t" r="r" b="b"/>
            <a:pathLst>
              <a:path w="4360053" h="4114800">
                <a:moveTo>
                  <a:pt x="0" y="0"/>
                </a:moveTo>
                <a:lnTo>
                  <a:pt x="4360053" y="0"/>
                </a:lnTo>
                <a:lnTo>
                  <a:pt x="4360053" y="4114800"/>
                </a:lnTo>
                <a:lnTo>
                  <a:pt x="0" y="41148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rot="10652293">
            <a:off x="16983529" y="5751008"/>
            <a:ext cx="1645692" cy="1642700"/>
          </a:xfrm>
          <a:custGeom>
            <a:avLst/>
            <a:gdLst/>
            <a:ahLst/>
            <a:cxnLst/>
            <a:rect l="l" t="t" r="r" b="b"/>
            <a:pathLst>
              <a:path w="1645692" h="1642700">
                <a:moveTo>
                  <a:pt x="0" y="0"/>
                </a:moveTo>
                <a:lnTo>
                  <a:pt x="1645693" y="0"/>
                </a:lnTo>
                <a:lnTo>
                  <a:pt x="1645693" y="1642700"/>
                </a:lnTo>
                <a:lnTo>
                  <a:pt x="0" y="164270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rot="3179362" flipH="1" flipV="1">
            <a:off x="15802758" y="-1021471"/>
            <a:ext cx="3125458" cy="3497537"/>
          </a:xfrm>
          <a:custGeom>
            <a:avLst/>
            <a:gdLst/>
            <a:ahLst/>
            <a:cxnLst/>
            <a:rect l="l" t="t" r="r" b="b"/>
            <a:pathLst>
              <a:path w="3125458" h="3497537">
                <a:moveTo>
                  <a:pt x="3125458" y="3497537"/>
                </a:moveTo>
                <a:lnTo>
                  <a:pt x="0" y="3497537"/>
                </a:lnTo>
                <a:lnTo>
                  <a:pt x="0" y="0"/>
                </a:lnTo>
                <a:lnTo>
                  <a:pt x="3125458" y="0"/>
                </a:lnTo>
                <a:lnTo>
                  <a:pt x="3125458" y="3497537"/>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5" name="Freeform 5"/>
          <p:cNvSpPr/>
          <p:nvPr/>
        </p:nvSpPr>
        <p:spPr>
          <a:xfrm rot="-5400000" flipH="1" flipV="1">
            <a:off x="12603575" y="-1615907"/>
            <a:ext cx="2196274" cy="4114800"/>
          </a:xfrm>
          <a:custGeom>
            <a:avLst/>
            <a:gdLst/>
            <a:ahLst/>
            <a:cxnLst/>
            <a:rect l="l" t="t" r="r" b="b"/>
            <a:pathLst>
              <a:path w="2196274" h="4114800">
                <a:moveTo>
                  <a:pt x="2196275" y="4114800"/>
                </a:moveTo>
                <a:lnTo>
                  <a:pt x="0" y="4114800"/>
                </a:lnTo>
                <a:lnTo>
                  <a:pt x="0" y="0"/>
                </a:lnTo>
                <a:lnTo>
                  <a:pt x="2196275" y="0"/>
                </a:lnTo>
                <a:lnTo>
                  <a:pt x="2196275" y="411480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6" name="Freeform 6"/>
          <p:cNvSpPr/>
          <p:nvPr/>
        </p:nvSpPr>
        <p:spPr>
          <a:xfrm flipH="1" flipV="1">
            <a:off x="12148079" y="8839846"/>
            <a:ext cx="2440518" cy="2623557"/>
          </a:xfrm>
          <a:custGeom>
            <a:avLst/>
            <a:gdLst/>
            <a:ahLst/>
            <a:cxnLst/>
            <a:rect l="l" t="t" r="r" b="b"/>
            <a:pathLst>
              <a:path w="2440518" h="2623557">
                <a:moveTo>
                  <a:pt x="2440517" y="2623557"/>
                </a:moveTo>
                <a:lnTo>
                  <a:pt x="0" y="2623557"/>
                </a:lnTo>
                <a:lnTo>
                  <a:pt x="0" y="0"/>
                </a:lnTo>
                <a:lnTo>
                  <a:pt x="2440517" y="0"/>
                </a:lnTo>
                <a:lnTo>
                  <a:pt x="2440517" y="2623557"/>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7" name="TextBox 7"/>
          <p:cNvSpPr txBox="1"/>
          <p:nvPr/>
        </p:nvSpPr>
        <p:spPr>
          <a:xfrm>
            <a:off x="2094649" y="1330080"/>
            <a:ext cx="10822744" cy="872034"/>
          </a:xfrm>
          <a:prstGeom prst="rect">
            <a:avLst/>
          </a:prstGeom>
        </p:spPr>
        <p:txBody>
          <a:bodyPr lIns="0" tIns="0" rIns="0" bIns="0" rtlCol="0" anchor="t">
            <a:spAutoFit/>
          </a:bodyPr>
          <a:lstStyle/>
          <a:p>
            <a:pPr marL="0" lvl="0" indent="0" algn="l">
              <a:lnSpc>
                <a:spcPts val="6806"/>
              </a:lnSpc>
            </a:pPr>
            <a:r>
              <a:rPr lang="en-US" sz="7398" dirty="0">
                <a:solidFill>
                  <a:srgbClr val="5E7B97"/>
                </a:solidFill>
                <a:latin typeface="Agency FB" panose="020B0503020202020204" pitchFamily="34" charset="0"/>
                <a:ea typeface="TT Marxiana Antigua"/>
                <a:cs typeface="TT Marxiana Antigua"/>
                <a:sym typeface="TT Marxiana Antigua"/>
              </a:rPr>
              <a:t>Baseline Model Performance</a:t>
            </a:r>
          </a:p>
        </p:txBody>
      </p:sp>
      <p:sp>
        <p:nvSpPr>
          <p:cNvPr id="8" name="TextBox 8"/>
          <p:cNvSpPr txBox="1"/>
          <p:nvPr/>
        </p:nvSpPr>
        <p:spPr>
          <a:xfrm>
            <a:off x="2125262" y="4756598"/>
            <a:ext cx="5572446" cy="4365880"/>
          </a:xfrm>
          <a:prstGeom prst="rect">
            <a:avLst/>
          </a:prstGeom>
        </p:spPr>
        <p:txBody>
          <a:bodyPr lIns="0" tIns="0" rIns="0" bIns="0" rtlCol="0" anchor="t">
            <a:spAutoFit/>
          </a:bodyPr>
          <a:lstStyle/>
          <a:p>
            <a:pPr marL="537583" lvl="1" indent="-268791" algn="ctr">
              <a:lnSpc>
                <a:spcPts val="3485"/>
              </a:lnSpc>
              <a:buFont typeface="Arial"/>
              <a:buChar char="•"/>
            </a:pPr>
            <a:r>
              <a:rPr lang="en-US" sz="2489">
                <a:solidFill>
                  <a:srgbClr val="5E7B97"/>
                </a:solidFill>
                <a:latin typeface="Source Sans Pro"/>
                <a:ea typeface="Source Sans Pro"/>
                <a:cs typeface="Source Sans Pro"/>
                <a:sym typeface="Source Sans Pro"/>
              </a:rPr>
              <a:t>Caught about half of the people who actually left</a:t>
            </a:r>
          </a:p>
          <a:p>
            <a:pPr marL="537583" lvl="1" indent="-268791" algn="ctr">
              <a:lnSpc>
                <a:spcPts val="3485"/>
              </a:lnSpc>
              <a:buFont typeface="Arial"/>
              <a:buChar char="•"/>
            </a:pPr>
            <a:r>
              <a:rPr lang="en-US" sz="2489">
                <a:solidFill>
                  <a:srgbClr val="5E7B97"/>
                </a:solidFill>
                <a:latin typeface="Source Sans Pro"/>
                <a:ea typeface="Source Sans Pro"/>
                <a:cs typeface="Source Sans Pro"/>
                <a:sym typeface="Source Sans Pro"/>
              </a:rPr>
              <a:t>When it predicted someone would leave, it was right about half the time</a:t>
            </a:r>
          </a:p>
          <a:p>
            <a:pPr marL="537583" lvl="1" indent="-268791" algn="ctr">
              <a:lnSpc>
                <a:spcPts val="3485"/>
              </a:lnSpc>
              <a:buFont typeface="Arial"/>
              <a:buChar char="•"/>
            </a:pPr>
            <a:r>
              <a:rPr lang="en-US" sz="2489">
                <a:solidFill>
                  <a:srgbClr val="5E7B97"/>
                </a:solidFill>
                <a:latin typeface="Source Sans Pro"/>
                <a:ea typeface="Source Sans Pro"/>
                <a:cs typeface="Source Sans Pro"/>
                <a:sym typeface="Source Sans Pro"/>
              </a:rPr>
              <a:t>Correct on 86 out of 100 predictions overall, but that number looks better than it is, because always guessing “stay” would score high too</a:t>
            </a:r>
          </a:p>
          <a:p>
            <a:pPr marL="537583" lvl="1" indent="-268791" algn="ctr">
              <a:lnSpc>
                <a:spcPts val="3485"/>
              </a:lnSpc>
              <a:buFont typeface="Arial"/>
              <a:buChar char="•"/>
            </a:pPr>
            <a:r>
              <a:rPr lang="en-US" sz="2489">
                <a:solidFill>
                  <a:srgbClr val="5E7B97"/>
                </a:solidFill>
                <a:latin typeface="Source Sans Pro"/>
                <a:ea typeface="Source Sans Pro"/>
                <a:cs typeface="Source Sans Pro"/>
                <a:sym typeface="Source Sans Pro"/>
              </a:rPr>
              <a:t>Overall balance score: 0.49 out of 1.0</a:t>
            </a:r>
          </a:p>
          <a:p>
            <a:pPr marL="0" lvl="0" indent="0" algn="ctr">
              <a:lnSpc>
                <a:spcPts val="3485"/>
              </a:lnSpc>
            </a:pPr>
            <a:endParaRPr lang="en-US" sz="2489">
              <a:solidFill>
                <a:srgbClr val="5E7B97"/>
              </a:solidFill>
              <a:latin typeface="Source Sans Pro"/>
              <a:ea typeface="Source Sans Pro"/>
              <a:cs typeface="Source Sans Pro"/>
              <a:sym typeface="Source Sans Pro"/>
            </a:endParaRPr>
          </a:p>
        </p:txBody>
      </p:sp>
      <p:grpSp>
        <p:nvGrpSpPr>
          <p:cNvPr id="9" name="Group 9"/>
          <p:cNvGrpSpPr/>
          <p:nvPr/>
        </p:nvGrpSpPr>
        <p:grpSpPr>
          <a:xfrm>
            <a:off x="2684027" y="3517207"/>
            <a:ext cx="4821994" cy="777297"/>
            <a:chOff x="0" y="0"/>
            <a:chExt cx="6429325" cy="1036395"/>
          </a:xfrm>
        </p:grpSpPr>
        <p:grpSp>
          <p:nvGrpSpPr>
            <p:cNvPr id="10" name="Group 10"/>
            <p:cNvGrpSpPr/>
            <p:nvPr/>
          </p:nvGrpSpPr>
          <p:grpSpPr>
            <a:xfrm>
              <a:off x="0" y="0"/>
              <a:ext cx="6429325" cy="1036395"/>
              <a:chOff x="0" y="0"/>
              <a:chExt cx="1269990" cy="204720"/>
            </a:xfrm>
          </p:grpSpPr>
          <p:sp>
            <p:nvSpPr>
              <p:cNvPr id="11" name="Freeform 11"/>
              <p:cNvSpPr/>
              <p:nvPr/>
            </p:nvSpPr>
            <p:spPr>
              <a:xfrm>
                <a:off x="0" y="0"/>
                <a:ext cx="1269990" cy="204720"/>
              </a:xfrm>
              <a:custGeom>
                <a:avLst/>
                <a:gdLst/>
                <a:ahLst/>
                <a:cxnLst/>
                <a:rect l="l" t="t" r="r" b="b"/>
                <a:pathLst>
                  <a:path w="1269990" h="204720">
                    <a:moveTo>
                      <a:pt x="102360" y="0"/>
                    </a:moveTo>
                    <a:lnTo>
                      <a:pt x="1167630" y="0"/>
                    </a:lnTo>
                    <a:cubicBezTo>
                      <a:pt x="1194778" y="0"/>
                      <a:pt x="1220813" y="10784"/>
                      <a:pt x="1240010" y="29981"/>
                    </a:cubicBezTo>
                    <a:cubicBezTo>
                      <a:pt x="1259206" y="49177"/>
                      <a:pt x="1269990" y="75212"/>
                      <a:pt x="1269990" y="102360"/>
                    </a:cubicBezTo>
                    <a:lnTo>
                      <a:pt x="1269990" y="102360"/>
                    </a:lnTo>
                    <a:cubicBezTo>
                      <a:pt x="1269990" y="129508"/>
                      <a:pt x="1259206" y="155543"/>
                      <a:pt x="1240010" y="174740"/>
                    </a:cubicBezTo>
                    <a:cubicBezTo>
                      <a:pt x="1220813" y="193936"/>
                      <a:pt x="1194778" y="204720"/>
                      <a:pt x="1167630" y="204720"/>
                    </a:cubicBezTo>
                    <a:lnTo>
                      <a:pt x="102360" y="204720"/>
                    </a:lnTo>
                    <a:cubicBezTo>
                      <a:pt x="75212" y="204720"/>
                      <a:pt x="49177" y="193936"/>
                      <a:pt x="29981" y="174740"/>
                    </a:cubicBezTo>
                    <a:cubicBezTo>
                      <a:pt x="10784" y="155543"/>
                      <a:pt x="0" y="129508"/>
                      <a:pt x="0" y="102360"/>
                    </a:cubicBezTo>
                    <a:lnTo>
                      <a:pt x="0" y="102360"/>
                    </a:lnTo>
                    <a:cubicBezTo>
                      <a:pt x="0" y="75212"/>
                      <a:pt x="10784" y="49177"/>
                      <a:pt x="29981" y="29981"/>
                    </a:cubicBezTo>
                    <a:cubicBezTo>
                      <a:pt x="49177" y="10784"/>
                      <a:pt x="75212" y="0"/>
                      <a:pt x="102360" y="0"/>
                    </a:cubicBezTo>
                    <a:close/>
                  </a:path>
                </a:pathLst>
              </a:custGeom>
              <a:solidFill>
                <a:srgbClr val="5E7B97"/>
              </a:solidFill>
            </p:spPr>
          </p:sp>
          <p:sp>
            <p:nvSpPr>
              <p:cNvPr id="12" name="TextBox 12"/>
              <p:cNvSpPr txBox="1"/>
              <p:nvPr/>
            </p:nvSpPr>
            <p:spPr>
              <a:xfrm>
                <a:off x="0" y="-38100"/>
                <a:ext cx="1269990" cy="24282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372468" y="114300"/>
              <a:ext cx="5677082" cy="632651"/>
            </a:xfrm>
            <a:prstGeom prst="rect">
              <a:avLst/>
            </a:prstGeom>
          </p:spPr>
          <p:txBody>
            <a:bodyPr lIns="0" tIns="0" rIns="0" bIns="0" rtlCol="0" anchor="t">
              <a:spAutoFit/>
            </a:bodyPr>
            <a:lstStyle/>
            <a:p>
              <a:pPr marL="0" lvl="0" indent="0" algn="ctr">
                <a:lnSpc>
                  <a:spcPts val="3695"/>
                </a:lnSpc>
              </a:pPr>
              <a:r>
                <a:rPr lang="en-US" sz="4017" dirty="0">
                  <a:solidFill>
                    <a:srgbClr val="FFFFFF"/>
                  </a:solidFill>
                  <a:latin typeface="Agency FB" panose="020B0503020202020204" pitchFamily="34" charset="0"/>
                  <a:ea typeface="TT Marxiana Antigua"/>
                  <a:cs typeface="TT Marxiana Antigua"/>
                  <a:sym typeface="TT Marxiana Antigua"/>
                </a:rPr>
                <a:t>Logistic Regression</a:t>
              </a:r>
            </a:p>
          </p:txBody>
        </p:sp>
      </p:grpSp>
      <p:sp>
        <p:nvSpPr>
          <p:cNvPr id="14" name="TextBox 14"/>
          <p:cNvSpPr txBox="1"/>
          <p:nvPr/>
        </p:nvSpPr>
        <p:spPr>
          <a:xfrm>
            <a:off x="7935832" y="4756598"/>
            <a:ext cx="6043017" cy="4804030"/>
          </a:xfrm>
          <a:prstGeom prst="rect">
            <a:avLst/>
          </a:prstGeom>
        </p:spPr>
        <p:txBody>
          <a:bodyPr lIns="0" tIns="0" rIns="0" bIns="0" rtlCol="0" anchor="t">
            <a:spAutoFit/>
          </a:bodyPr>
          <a:lstStyle/>
          <a:p>
            <a:pPr marL="537583" lvl="1" indent="-268791" algn="ctr">
              <a:lnSpc>
                <a:spcPts val="3485"/>
              </a:lnSpc>
              <a:buFont typeface="Arial"/>
              <a:buChar char="•"/>
            </a:pPr>
            <a:r>
              <a:rPr lang="en-US" sz="2489">
                <a:solidFill>
                  <a:srgbClr val="5E7B97"/>
                </a:solidFill>
                <a:latin typeface="Source Sans Pro"/>
                <a:ea typeface="Source Sans Pro"/>
                <a:cs typeface="Source Sans Pro"/>
                <a:sym typeface="Source Sans Pro"/>
              </a:rPr>
              <a:t>Caught only 13 out of 100 people who actually left, which is very low</a:t>
            </a:r>
          </a:p>
          <a:p>
            <a:pPr marL="537583" lvl="1" indent="-268791" algn="ctr">
              <a:lnSpc>
                <a:spcPts val="3485"/>
              </a:lnSpc>
              <a:buFont typeface="Arial"/>
              <a:buChar char="•"/>
            </a:pPr>
            <a:r>
              <a:rPr lang="en-US" sz="2489">
                <a:solidFill>
                  <a:srgbClr val="5E7B97"/>
                </a:solidFill>
                <a:latin typeface="Source Sans Pro"/>
                <a:ea typeface="Source Sans Pro"/>
                <a:cs typeface="Source Sans Pro"/>
                <a:sym typeface="Source Sans Pro"/>
              </a:rPr>
              <a:t>When it did predict “leave,” it was often right, but it rarely made that prediction, so the result is misleading</a:t>
            </a:r>
          </a:p>
          <a:p>
            <a:pPr marL="537583" lvl="1" indent="-268791" algn="ctr">
              <a:lnSpc>
                <a:spcPts val="3485"/>
              </a:lnSpc>
              <a:buFont typeface="Arial"/>
              <a:buChar char="•"/>
            </a:pPr>
            <a:r>
              <a:rPr lang="en-US" sz="2489">
                <a:solidFill>
                  <a:srgbClr val="5E7B97"/>
                </a:solidFill>
                <a:latin typeface="Source Sans Pro"/>
                <a:ea typeface="Source Sans Pro"/>
                <a:cs typeface="Source Sans Pro"/>
                <a:sym typeface="Source Sans Pro"/>
              </a:rPr>
              <a:t>Correct on 84 out of 100 predictions overall, but nearly all of those were “stay” guesses</a:t>
            </a:r>
          </a:p>
          <a:p>
            <a:pPr marL="537583" lvl="1" indent="-268791" algn="ctr">
              <a:lnSpc>
                <a:spcPts val="3485"/>
              </a:lnSpc>
              <a:buFont typeface="Arial"/>
              <a:buChar char="•"/>
            </a:pPr>
            <a:r>
              <a:rPr lang="en-US" sz="2489">
                <a:solidFill>
                  <a:srgbClr val="5E7B97"/>
                </a:solidFill>
                <a:latin typeface="Source Sans Pro"/>
                <a:ea typeface="Source Sans Pro"/>
                <a:cs typeface="Source Sans Pro"/>
                <a:sym typeface="Source Sans Pro"/>
              </a:rPr>
              <a:t>Overall balance score: lower than Logistic Regression</a:t>
            </a:r>
          </a:p>
          <a:p>
            <a:pPr marL="0" lvl="0" indent="0" algn="ctr">
              <a:lnSpc>
                <a:spcPts val="3485"/>
              </a:lnSpc>
            </a:pPr>
            <a:endParaRPr lang="en-US" sz="2489">
              <a:solidFill>
                <a:srgbClr val="5E7B97"/>
              </a:solidFill>
              <a:latin typeface="Source Sans Pro"/>
              <a:ea typeface="Source Sans Pro"/>
              <a:cs typeface="Source Sans Pro"/>
              <a:sym typeface="Source Sans Pro"/>
            </a:endParaRPr>
          </a:p>
        </p:txBody>
      </p:sp>
      <p:grpSp>
        <p:nvGrpSpPr>
          <p:cNvPr id="15" name="Group 15"/>
          <p:cNvGrpSpPr/>
          <p:nvPr/>
        </p:nvGrpSpPr>
        <p:grpSpPr>
          <a:xfrm>
            <a:off x="8546344" y="3517207"/>
            <a:ext cx="4821994" cy="887224"/>
            <a:chOff x="0" y="0"/>
            <a:chExt cx="6429325" cy="1182965"/>
          </a:xfrm>
        </p:grpSpPr>
        <p:grpSp>
          <p:nvGrpSpPr>
            <p:cNvPr id="16" name="Group 16"/>
            <p:cNvGrpSpPr/>
            <p:nvPr/>
          </p:nvGrpSpPr>
          <p:grpSpPr>
            <a:xfrm>
              <a:off x="0" y="0"/>
              <a:ext cx="6429325" cy="1182965"/>
              <a:chOff x="0" y="0"/>
              <a:chExt cx="1269990" cy="233672"/>
            </a:xfrm>
          </p:grpSpPr>
          <p:sp>
            <p:nvSpPr>
              <p:cNvPr id="17" name="Freeform 17"/>
              <p:cNvSpPr/>
              <p:nvPr/>
            </p:nvSpPr>
            <p:spPr>
              <a:xfrm>
                <a:off x="0" y="0"/>
                <a:ext cx="1269990" cy="233672"/>
              </a:xfrm>
              <a:custGeom>
                <a:avLst/>
                <a:gdLst/>
                <a:ahLst/>
                <a:cxnLst/>
                <a:rect l="l" t="t" r="r" b="b"/>
                <a:pathLst>
                  <a:path w="1269990" h="233672">
                    <a:moveTo>
                      <a:pt x="116836" y="0"/>
                    </a:moveTo>
                    <a:lnTo>
                      <a:pt x="1153154" y="0"/>
                    </a:lnTo>
                    <a:cubicBezTo>
                      <a:pt x="1217681" y="0"/>
                      <a:pt x="1269990" y="52309"/>
                      <a:pt x="1269990" y="116836"/>
                    </a:cubicBezTo>
                    <a:lnTo>
                      <a:pt x="1269990" y="116836"/>
                    </a:lnTo>
                    <a:cubicBezTo>
                      <a:pt x="1269990" y="147823"/>
                      <a:pt x="1257681" y="177541"/>
                      <a:pt x="1235770" y="199452"/>
                    </a:cubicBezTo>
                    <a:cubicBezTo>
                      <a:pt x="1213859" y="221363"/>
                      <a:pt x="1184141" y="233672"/>
                      <a:pt x="1153154" y="233672"/>
                    </a:cubicBezTo>
                    <a:lnTo>
                      <a:pt x="116836" y="233672"/>
                    </a:lnTo>
                    <a:cubicBezTo>
                      <a:pt x="52309" y="233672"/>
                      <a:pt x="0" y="181363"/>
                      <a:pt x="0" y="116836"/>
                    </a:cubicBezTo>
                    <a:lnTo>
                      <a:pt x="0" y="116836"/>
                    </a:lnTo>
                    <a:cubicBezTo>
                      <a:pt x="0" y="52309"/>
                      <a:pt x="52309" y="0"/>
                      <a:pt x="116836" y="0"/>
                    </a:cubicBezTo>
                    <a:close/>
                  </a:path>
                </a:pathLst>
              </a:custGeom>
              <a:solidFill>
                <a:srgbClr val="5E7B97"/>
              </a:solidFill>
            </p:spPr>
          </p:sp>
          <p:sp>
            <p:nvSpPr>
              <p:cNvPr id="18" name="TextBox 18"/>
              <p:cNvSpPr txBox="1"/>
              <p:nvPr/>
            </p:nvSpPr>
            <p:spPr>
              <a:xfrm>
                <a:off x="0" y="-38100"/>
                <a:ext cx="1269990" cy="27177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9" name="TextBox 19"/>
            <p:cNvSpPr txBox="1"/>
            <p:nvPr/>
          </p:nvSpPr>
          <p:spPr>
            <a:xfrm>
              <a:off x="376121" y="114300"/>
              <a:ext cx="5677082" cy="632652"/>
            </a:xfrm>
            <a:prstGeom prst="rect">
              <a:avLst/>
            </a:prstGeom>
          </p:spPr>
          <p:txBody>
            <a:bodyPr lIns="0" tIns="0" rIns="0" bIns="0" rtlCol="0" anchor="t">
              <a:spAutoFit/>
            </a:bodyPr>
            <a:lstStyle/>
            <a:p>
              <a:pPr marL="0" lvl="0" indent="0" algn="ctr">
                <a:lnSpc>
                  <a:spcPts val="3695"/>
                </a:lnSpc>
              </a:pPr>
              <a:r>
                <a:rPr lang="en-US" sz="4017" dirty="0">
                  <a:solidFill>
                    <a:srgbClr val="FFFFFF"/>
                  </a:solidFill>
                  <a:latin typeface="Agency FB" panose="020B0503020202020204" pitchFamily="34" charset="0"/>
                  <a:ea typeface="TT Marxiana Antigua"/>
                  <a:cs typeface="TT Marxiana Antigua"/>
                  <a:sym typeface="TT Marxiana Antigua"/>
                </a:rPr>
                <a:t>Random Forest</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sp>
        <p:nvSpPr>
          <p:cNvPr id="2" name="Freeform 2"/>
          <p:cNvSpPr/>
          <p:nvPr/>
        </p:nvSpPr>
        <p:spPr>
          <a:xfrm rot="435982">
            <a:off x="14459420" y="6831570"/>
            <a:ext cx="4360053" cy="4114800"/>
          </a:xfrm>
          <a:custGeom>
            <a:avLst/>
            <a:gdLst/>
            <a:ahLst/>
            <a:cxnLst/>
            <a:rect l="l" t="t" r="r" b="b"/>
            <a:pathLst>
              <a:path w="4360053" h="4114800">
                <a:moveTo>
                  <a:pt x="0" y="0"/>
                </a:moveTo>
                <a:lnTo>
                  <a:pt x="4360053" y="0"/>
                </a:lnTo>
                <a:lnTo>
                  <a:pt x="4360053" y="4114800"/>
                </a:lnTo>
                <a:lnTo>
                  <a:pt x="0" y="41148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rot="10652293">
            <a:off x="16983529" y="5751008"/>
            <a:ext cx="1645692" cy="1642700"/>
          </a:xfrm>
          <a:custGeom>
            <a:avLst/>
            <a:gdLst/>
            <a:ahLst/>
            <a:cxnLst/>
            <a:rect l="l" t="t" r="r" b="b"/>
            <a:pathLst>
              <a:path w="1645692" h="1642700">
                <a:moveTo>
                  <a:pt x="0" y="0"/>
                </a:moveTo>
                <a:lnTo>
                  <a:pt x="1645693" y="0"/>
                </a:lnTo>
                <a:lnTo>
                  <a:pt x="1645693" y="1642700"/>
                </a:lnTo>
                <a:lnTo>
                  <a:pt x="0" y="164270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rot="3179362" flipH="1" flipV="1">
            <a:off x="15802758" y="-1021471"/>
            <a:ext cx="3125458" cy="3497537"/>
          </a:xfrm>
          <a:custGeom>
            <a:avLst/>
            <a:gdLst/>
            <a:ahLst/>
            <a:cxnLst/>
            <a:rect l="l" t="t" r="r" b="b"/>
            <a:pathLst>
              <a:path w="3125458" h="3497537">
                <a:moveTo>
                  <a:pt x="3125458" y="3497537"/>
                </a:moveTo>
                <a:lnTo>
                  <a:pt x="0" y="3497537"/>
                </a:lnTo>
                <a:lnTo>
                  <a:pt x="0" y="0"/>
                </a:lnTo>
                <a:lnTo>
                  <a:pt x="3125458" y="0"/>
                </a:lnTo>
                <a:lnTo>
                  <a:pt x="3125458" y="3497537"/>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5" name="Freeform 5"/>
          <p:cNvSpPr/>
          <p:nvPr/>
        </p:nvSpPr>
        <p:spPr>
          <a:xfrm rot="-5400000" flipH="1" flipV="1">
            <a:off x="12603575" y="-1615907"/>
            <a:ext cx="2196274" cy="4114800"/>
          </a:xfrm>
          <a:custGeom>
            <a:avLst/>
            <a:gdLst/>
            <a:ahLst/>
            <a:cxnLst/>
            <a:rect l="l" t="t" r="r" b="b"/>
            <a:pathLst>
              <a:path w="2196274" h="4114800">
                <a:moveTo>
                  <a:pt x="2196275" y="4114800"/>
                </a:moveTo>
                <a:lnTo>
                  <a:pt x="0" y="4114800"/>
                </a:lnTo>
                <a:lnTo>
                  <a:pt x="0" y="0"/>
                </a:lnTo>
                <a:lnTo>
                  <a:pt x="2196275" y="0"/>
                </a:lnTo>
                <a:lnTo>
                  <a:pt x="2196275" y="411480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6" name="Freeform 6"/>
          <p:cNvSpPr/>
          <p:nvPr/>
        </p:nvSpPr>
        <p:spPr>
          <a:xfrm flipH="1" flipV="1">
            <a:off x="12148079" y="8839846"/>
            <a:ext cx="2440518" cy="2623557"/>
          </a:xfrm>
          <a:custGeom>
            <a:avLst/>
            <a:gdLst/>
            <a:ahLst/>
            <a:cxnLst/>
            <a:rect l="l" t="t" r="r" b="b"/>
            <a:pathLst>
              <a:path w="2440518" h="2623557">
                <a:moveTo>
                  <a:pt x="2440517" y="2623557"/>
                </a:moveTo>
                <a:lnTo>
                  <a:pt x="0" y="2623557"/>
                </a:lnTo>
                <a:lnTo>
                  <a:pt x="0" y="0"/>
                </a:lnTo>
                <a:lnTo>
                  <a:pt x="2440517" y="0"/>
                </a:lnTo>
                <a:lnTo>
                  <a:pt x="2440517" y="2623557"/>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7" name="TextBox 7"/>
          <p:cNvSpPr txBox="1"/>
          <p:nvPr/>
        </p:nvSpPr>
        <p:spPr>
          <a:xfrm>
            <a:off x="1414640" y="651043"/>
            <a:ext cx="7210425" cy="948978"/>
          </a:xfrm>
          <a:prstGeom prst="rect">
            <a:avLst/>
          </a:prstGeom>
        </p:spPr>
        <p:txBody>
          <a:bodyPr lIns="0" tIns="0" rIns="0" bIns="0" rtlCol="0" anchor="t">
            <a:spAutoFit/>
          </a:bodyPr>
          <a:lstStyle/>
          <a:p>
            <a:pPr marL="0" lvl="0" indent="0" algn="l">
              <a:lnSpc>
                <a:spcPts val="7437"/>
              </a:lnSpc>
            </a:pPr>
            <a:r>
              <a:rPr lang="en-US" sz="8083" dirty="0">
                <a:solidFill>
                  <a:srgbClr val="5E7B97"/>
                </a:solidFill>
                <a:latin typeface="Agency FB" panose="020B0503020202020204" pitchFamily="34" charset="0"/>
                <a:ea typeface="TT Marxiana Antigua"/>
                <a:cs typeface="TT Marxiana Antigua"/>
                <a:sym typeface="TT Marxiana Antigua"/>
              </a:rPr>
              <a:t>SMOTE Results</a:t>
            </a:r>
          </a:p>
        </p:txBody>
      </p:sp>
      <p:sp>
        <p:nvSpPr>
          <p:cNvPr id="8" name="TextBox 8"/>
          <p:cNvSpPr txBox="1"/>
          <p:nvPr/>
        </p:nvSpPr>
        <p:spPr>
          <a:xfrm>
            <a:off x="224143" y="1750413"/>
            <a:ext cx="10842968" cy="7698758"/>
          </a:xfrm>
          <a:prstGeom prst="rect">
            <a:avLst/>
          </a:prstGeom>
        </p:spPr>
        <p:txBody>
          <a:bodyPr lIns="0" tIns="0" rIns="0" bIns="0" rtlCol="0" anchor="t">
            <a:spAutoFit/>
          </a:bodyPr>
          <a:lstStyle/>
          <a:p>
            <a:pPr marL="0" lvl="0" indent="0" algn="l">
              <a:lnSpc>
                <a:spcPts val="4059"/>
              </a:lnSpc>
            </a:pPr>
            <a:r>
              <a:rPr lang="en-US" sz="2899" b="1">
                <a:solidFill>
                  <a:srgbClr val="5E7B97"/>
                </a:solidFill>
                <a:latin typeface="Source Sans Pro Bold"/>
                <a:ea typeface="Source Sans Pro Bold"/>
                <a:cs typeface="Source Sans Pro Bold"/>
                <a:sym typeface="Source Sans Pro Bold"/>
              </a:rPr>
              <a:t>What improved</a:t>
            </a:r>
          </a:p>
          <a:p>
            <a:pPr marL="625957" lvl="1" indent="-312978" algn="l">
              <a:lnSpc>
                <a:spcPts val="4059"/>
              </a:lnSpc>
              <a:buFont typeface="Arial"/>
              <a:buChar char="•"/>
            </a:pPr>
            <a:r>
              <a:rPr lang="en-US" sz="2899">
                <a:solidFill>
                  <a:srgbClr val="5E7B97"/>
                </a:solidFill>
                <a:latin typeface="Source Sans Pro"/>
                <a:ea typeface="Source Sans Pro"/>
                <a:cs typeface="Source Sans Pro"/>
                <a:sym typeface="Source Sans Pro"/>
              </a:rPr>
              <a:t>The model now caught about 79 out of 100 people who actually left, up from 38 out of 100 before. That is roughly double.</a:t>
            </a:r>
          </a:p>
          <a:p>
            <a:pPr marL="625957" lvl="1" indent="-312978" algn="l">
              <a:lnSpc>
                <a:spcPts val="4059"/>
              </a:lnSpc>
              <a:buFont typeface="Arial"/>
              <a:buChar char="•"/>
            </a:pPr>
            <a:r>
              <a:rPr lang="en-US" sz="2899">
                <a:solidFill>
                  <a:srgbClr val="5E7B97"/>
                </a:solidFill>
                <a:latin typeface="Source Sans Pro"/>
                <a:ea typeface="Source Sans Pro"/>
                <a:cs typeface="Source Sans Pro"/>
                <a:sym typeface="Source Sans Pro"/>
              </a:rPr>
              <a:t>Overall balance score rose slightly, from 0.49 to 0.53 out of 1.0</a:t>
            </a:r>
          </a:p>
          <a:p>
            <a:pPr marL="0" lvl="0" indent="0" algn="l">
              <a:lnSpc>
                <a:spcPts val="4059"/>
              </a:lnSpc>
            </a:pPr>
            <a:r>
              <a:rPr lang="en-US" sz="2899" b="1">
                <a:solidFill>
                  <a:srgbClr val="5E7B97"/>
                </a:solidFill>
                <a:latin typeface="Source Sans Pro Bold"/>
                <a:ea typeface="Source Sans Pro Bold"/>
                <a:cs typeface="Source Sans Pro Bold"/>
                <a:sym typeface="Source Sans Pro Bold"/>
              </a:rPr>
              <a:t>What got worse (the trade-offs)</a:t>
            </a:r>
          </a:p>
          <a:p>
            <a:pPr marL="625957" lvl="1" indent="-312978" algn="l">
              <a:lnSpc>
                <a:spcPts val="4059"/>
              </a:lnSpc>
              <a:buFont typeface="Arial"/>
              <a:buChar char="•"/>
            </a:pPr>
            <a:r>
              <a:rPr lang="en-US" sz="2899">
                <a:solidFill>
                  <a:srgbClr val="5E7B97"/>
                </a:solidFill>
                <a:latin typeface="Source Sans Pro"/>
                <a:ea typeface="Source Sans Pro"/>
                <a:cs typeface="Source Sans Pro"/>
                <a:sym typeface="Source Sans Pro"/>
              </a:rPr>
              <a:t>When the model predicted someone would leave, it was right only about 39% of the time, so it raises more false alarms</a:t>
            </a:r>
          </a:p>
          <a:p>
            <a:pPr marL="625957" lvl="1" indent="-312978" algn="l">
              <a:lnSpc>
                <a:spcPts val="4059"/>
              </a:lnSpc>
              <a:buFont typeface="Arial"/>
              <a:buChar char="•"/>
            </a:pPr>
            <a:r>
              <a:rPr lang="en-US" sz="2899">
                <a:solidFill>
                  <a:srgbClr val="5E7B97"/>
                </a:solidFill>
                <a:latin typeface="Source Sans Pro"/>
                <a:ea typeface="Source Sans Pro"/>
                <a:cs typeface="Source Sans Pro"/>
                <a:sym typeface="Source Sans Pro"/>
              </a:rPr>
              <a:t>Overall correct predictions dropped from 86 out of 100 to 77 out of 100, because the model is no longer defaulting to “stay”</a:t>
            </a:r>
          </a:p>
          <a:p>
            <a:pPr algn="l">
              <a:lnSpc>
                <a:spcPts val="4059"/>
              </a:lnSpc>
            </a:pPr>
            <a:endParaRPr lang="en-US" sz="2899">
              <a:solidFill>
                <a:srgbClr val="5E7B97"/>
              </a:solidFill>
              <a:latin typeface="Source Sans Pro"/>
              <a:ea typeface="Source Sans Pro"/>
              <a:cs typeface="Source Sans Pro"/>
              <a:sym typeface="Source Sans Pro"/>
            </a:endParaRPr>
          </a:p>
          <a:p>
            <a:pPr algn="l">
              <a:lnSpc>
                <a:spcPts val="4059"/>
              </a:lnSpc>
            </a:pPr>
            <a:r>
              <a:rPr lang="en-US" sz="2899" b="1">
                <a:solidFill>
                  <a:srgbClr val="5E7B97"/>
                </a:solidFill>
                <a:latin typeface="Source Sans Pro Bold"/>
                <a:ea typeface="Source Sans Pro Bold"/>
                <a:cs typeface="Source Sans Pro Bold"/>
                <a:sym typeface="Source Sans Pro Bold"/>
              </a:rPr>
              <a:t>Takeaway</a:t>
            </a:r>
            <a:r>
              <a:rPr lang="en-US" sz="2899">
                <a:solidFill>
                  <a:srgbClr val="5E7B97"/>
                </a:solidFill>
                <a:latin typeface="Source Sans Pro"/>
                <a:ea typeface="Source Sans Pro"/>
                <a:cs typeface="Source Sans Pro"/>
                <a:sym typeface="Source Sans Pro"/>
              </a:rPr>
              <a:t>: SMOTE made the model much better at spotting people likely to leave, at the cost of more false alarms. For a project about reducing turnover, catching more real cases is usually worth some extra false alarms.</a:t>
            </a:r>
          </a:p>
          <a:p>
            <a:pPr marL="0" lvl="0" indent="0" algn="l">
              <a:lnSpc>
                <a:spcPts val="4059"/>
              </a:lnSpc>
            </a:pPr>
            <a:endParaRPr lang="en-US" sz="2899">
              <a:solidFill>
                <a:srgbClr val="5E7B97"/>
              </a:solidFill>
              <a:latin typeface="Source Sans Pro"/>
              <a:ea typeface="Source Sans Pro"/>
              <a:cs typeface="Source Sans Pro"/>
              <a:sym typeface="Source Sans Pro"/>
            </a:endParaRPr>
          </a:p>
        </p:txBody>
      </p:sp>
      <p:pic>
        <p:nvPicPr>
          <p:cNvPr id="9" name="Picture 9"/>
          <p:cNvPicPr>
            <a:picLocks noChangeAspect="1"/>
          </p:cNvPicPr>
          <p:nvPr/>
        </p:nvPicPr>
        <p:blipFill>
          <a:blip r:embed="rId12"/>
          <a:stretch>
            <a:fillRect/>
          </a:stretch>
        </p:blipFill>
        <p:spPr>
          <a:xfrm>
            <a:off x="10938685" y="1310948"/>
            <a:ext cx="5526055" cy="59593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sp>
        <p:nvSpPr>
          <p:cNvPr id="2" name="Freeform 2"/>
          <p:cNvSpPr/>
          <p:nvPr/>
        </p:nvSpPr>
        <p:spPr>
          <a:xfrm rot="435982">
            <a:off x="14459420" y="6831570"/>
            <a:ext cx="4360053" cy="4114800"/>
          </a:xfrm>
          <a:custGeom>
            <a:avLst/>
            <a:gdLst/>
            <a:ahLst/>
            <a:cxnLst/>
            <a:rect l="l" t="t" r="r" b="b"/>
            <a:pathLst>
              <a:path w="4360053" h="4114800">
                <a:moveTo>
                  <a:pt x="0" y="0"/>
                </a:moveTo>
                <a:lnTo>
                  <a:pt x="4360053" y="0"/>
                </a:lnTo>
                <a:lnTo>
                  <a:pt x="4360053" y="4114800"/>
                </a:lnTo>
                <a:lnTo>
                  <a:pt x="0" y="41148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rot="10652293">
            <a:off x="16983529" y="5751008"/>
            <a:ext cx="1645692" cy="1642700"/>
          </a:xfrm>
          <a:custGeom>
            <a:avLst/>
            <a:gdLst/>
            <a:ahLst/>
            <a:cxnLst/>
            <a:rect l="l" t="t" r="r" b="b"/>
            <a:pathLst>
              <a:path w="1645692" h="1642700">
                <a:moveTo>
                  <a:pt x="0" y="0"/>
                </a:moveTo>
                <a:lnTo>
                  <a:pt x="1645693" y="0"/>
                </a:lnTo>
                <a:lnTo>
                  <a:pt x="1645693" y="1642700"/>
                </a:lnTo>
                <a:lnTo>
                  <a:pt x="0" y="164270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rot="3179362" flipH="1" flipV="1">
            <a:off x="15802758" y="-1021471"/>
            <a:ext cx="3125458" cy="3497537"/>
          </a:xfrm>
          <a:custGeom>
            <a:avLst/>
            <a:gdLst/>
            <a:ahLst/>
            <a:cxnLst/>
            <a:rect l="l" t="t" r="r" b="b"/>
            <a:pathLst>
              <a:path w="3125458" h="3497537">
                <a:moveTo>
                  <a:pt x="3125458" y="3497537"/>
                </a:moveTo>
                <a:lnTo>
                  <a:pt x="0" y="3497537"/>
                </a:lnTo>
                <a:lnTo>
                  <a:pt x="0" y="0"/>
                </a:lnTo>
                <a:lnTo>
                  <a:pt x="3125458" y="0"/>
                </a:lnTo>
                <a:lnTo>
                  <a:pt x="3125458" y="3497537"/>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5" name="Freeform 5"/>
          <p:cNvSpPr/>
          <p:nvPr/>
        </p:nvSpPr>
        <p:spPr>
          <a:xfrm rot="-5400000" flipH="1" flipV="1">
            <a:off x="12603575" y="-1615907"/>
            <a:ext cx="2196274" cy="4114800"/>
          </a:xfrm>
          <a:custGeom>
            <a:avLst/>
            <a:gdLst/>
            <a:ahLst/>
            <a:cxnLst/>
            <a:rect l="l" t="t" r="r" b="b"/>
            <a:pathLst>
              <a:path w="2196274" h="4114800">
                <a:moveTo>
                  <a:pt x="2196275" y="4114800"/>
                </a:moveTo>
                <a:lnTo>
                  <a:pt x="0" y="4114800"/>
                </a:lnTo>
                <a:lnTo>
                  <a:pt x="0" y="0"/>
                </a:lnTo>
                <a:lnTo>
                  <a:pt x="2196275" y="0"/>
                </a:lnTo>
                <a:lnTo>
                  <a:pt x="2196275" y="411480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6" name="Freeform 6"/>
          <p:cNvSpPr/>
          <p:nvPr/>
        </p:nvSpPr>
        <p:spPr>
          <a:xfrm flipH="1" flipV="1">
            <a:off x="12148079" y="8839846"/>
            <a:ext cx="2440518" cy="2623557"/>
          </a:xfrm>
          <a:custGeom>
            <a:avLst/>
            <a:gdLst/>
            <a:ahLst/>
            <a:cxnLst/>
            <a:rect l="l" t="t" r="r" b="b"/>
            <a:pathLst>
              <a:path w="2440518" h="2623557">
                <a:moveTo>
                  <a:pt x="2440517" y="2623557"/>
                </a:moveTo>
                <a:lnTo>
                  <a:pt x="0" y="2623557"/>
                </a:lnTo>
                <a:lnTo>
                  <a:pt x="0" y="0"/>
                </a:lnTo>
                <a:lnTo>
                  <a:pt x="2440517" y="0"/>
                </a:lnTo>
                <a:lnTo>
                  <a:pt x="2440517" y="2623557"/>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7" name="TextBox 7"/>
          <p:cNvSpPr txBox="1"/>
          <p:nvPr/>
        </p:nvSpPr>
        <p:spPr>
          <a:xfrm>
            <a:off x="1905866" y="1333500"/>
            <a:ext cx="10822744" cy="910506"/>
          </a:xfrm>
          <a:prstGeom prst="rect">
            <a:avLst/>
          </a:prstGeom>
        </p:spPr>
        <p:txBody>
          <a:bodyPr lIns="0" tIns="0" rIns="0" bIns="0" rtlCol="0" anchor="t">
            <a:spAutoFit/>
          </a:bodyPr>
          <a:lstStyle/>
          <a:p>
            <a:pPr marL="0" lvl="0" indent="0" algn="l">
              <a:lnSpc>
                <a:spcPts val="7058"/>
              </a:lnSpc>
            </a:pPr>
            <a:r>
              <a:rPr lang="en-US" sz="7672" dirty="0">
                <a:solidFill>
                  <a:srgbClr val="5E7B97"/>
                </a:solidFill>
                <a:latin typeface="Agency FB" panose="020B0503020202020204" pitchFamily="34" charset="0"/>
                <a:ea typeface="TT Marxiana Antigua"/>
                <a:cs typeface="TT Marxiana Antigua"/>
                <a:sym typeface="TT Marxiana Antigua"/>
              </a:rPr>
              <a:t>Cross-Validation &amp; Tuning</a:t>
            </a:r>
          </a:p>
        </p:txBody>
      </p:sp>
      <p:sp>
        <p:nvSpPr>
          <p:cNvPr id="8" name="TextBox 8"/>
          <p:cNvSpPr txBox="1"/>
          <p:nvPr/>
        </p:nvSpPr>
        <p:spPr>
          <a:xfrm>
            <a:off x="1933575" y="3304093"/>
            <a:ext cx="10822744" cy="6292222"/>
          </a:xfrm>
          <a:prstGeom prst="rect">
            <a:avLst/>
          </a:prstGeom>
        </p:spPr>
        <p:txBody>
          <a:bodyPr lIns="0" tIns="0" rIns="0" bIns="0" rtlCol="0" anchor="t">
            <a:spAutoFit/>
          </a:bodyPr>
          <a:lstStyle/>
          <a:p>
            <a:pPr marL="599059" lvl="1" indent="-299530" algn="l">
              <a:lnSpc>
                <a:spcPts val="3884"/>
              </a:lnSpc>
              <a:buFont typeface="Arial"/>
              <a:buChar char="•"/>
            </a:pPr>
            <a:r>
              <a:rPr lang="en-US" sz="2774" dirty="0">
                <a:solidFill>
                  <a:srgbClr val="5E7B97"/>
                </a:solidFill>
                <a:latin typeface="Source Sans Pro"/>
                <a:ea typeface="Source Sans Pro"/>
                <a:cs typeface="Source Sans Pro"/>
                <a:sym typeface="Source Sans Pro"/>
              </a:rPr>
              <a:t>ROC-AUC: A score where 0.5 means guessing and 1.0 means perfect.</a:t>
            </a:r>
          </a:p>
          <a:p>
            <a:pPr marL="599059" lvl="1" indent="-299530" algn="l">
              <a:lnSpc>
                <a:spcPts val="3884"/>
              </a:lnSpc>
              <a:buFont typeface="Arial"/>
              <a:buChar char="•"/>
            </a:pPr>
            <a:r>
              <a:rPr lang="en-US" sz="2774" dirty="0">
                <a:solidFill>
                  <a:srgbClr val="5E7B97"/>
                </a:solidFill>
                <a:latin typeface="Source Sans Pro"/>
                <a:ea typeface="Source Sans Pro"/>
                <a:cs typeface="Source Sans Pro"/>
                <a:sym typeface="Source Sans Pro"/>
              </a:rPr>
              <a:t>Runtime errors: Be upfront: “We couldn’t complete the final test for the tuned Random Forest, but its cross-validation results already showed it trailing.”</a:t>
            </a:r>
          </a:p>
          <a:p>
            <a:pPr marL="599059" lvl="1" indent="-299530" algn="l">
              <a:lnSpc>
                <a:spcPts val="3884"/>
              </a:lnSpc>
              <a:buFont typeface="Arial"/>
              <a:buChar char="•"/>
            </a:pPr>
            <a:r>
              <a:rPr lang="en-US" sz="2774" dirty="0">
                <a:solidFill>
                  <a:srgbClr val="5E7B97"/>
                </a:solidFill>
                <a:latin typeface="Source Sans Pro"/>
                <a:ea typeface="Source Sans Pro"/>
                <a:cs typeface="Source Sans Pro"/>
                <a:sym typeface="Source Sans Pro"/>
              </a:rPr>
              <a:t>Different F1 numbers: This slide shows 0.441 and the baseline slide showed 0.493 because cross-validation averages several splits. Be ready to explain that.</a:t>
            </a:r>
          </a:p>
          <a:p>
            <a:pPr marL="599059" lvl="1" indent="-299530" algn="l">
              <a:lnSpc>
                <a:spcPts val="3884"/>
              </a:lnSpc>
              <a:buFont typeface="Arial"/>
              <a:buChar char="•"/>
            </a:pPr>
            <a:r>
              <a:rPr lang="en-US" sz="2774" dirty="0">
                <a:solidFill>
                  <a:srgbClr val="5E7B97"/>
                </a:solidFill>
                <a:latin typeface="Source Sans Pro"/>
                <a:ea typeface="Source Sans Pro"/>
                <a:cs typeface="Source Sans Pro"/>
                <a:sym typeface="Source Sans Pro"/>
              </a:rPr>
              <a:t>Tuning settings: Left out on purpose. Put them in speaker notes or an appendix.</a:t>
            </a:r>
          </a:p>
          <a:p>
            <a:pPr marL="599059" lvl="1" indent="-299530" algn="l">
              <a:lnSpc>
                <a:spcPts val="3884"/>
              </a:lnSpc>
              <a:buFont typeface="Arial"/>
              <a:buChar char="•"/>
            </a:pPr>
            <a:r>
              <a:rPr lang="en-US" sz="2774" dirty="0">
                <a:solidFill>
                  <a:srgbClr val="5E7B97"/>
                </a:solidFill>
                <a:latin typeface="Source Sans Pro"/>
                <a:ea typeface="Source Sans Pro"/>
                <a:cs typeface="Source Sans Pro"/>
                <a:sym typeface="Source Sans Pro"/>
              </a:rPr>
              <a:t>Shorter slide: “Repeated testing confirmed the simple model (Logistic Regression) is more reliable than the tuned complex model (Random Forest).”</a:t>
            </a:r>
          </a:p>
          <a:p>
            <a:pPr marL="0" lvl="0" indent="0" algn="l">
              <a:lnSpc>
                <a:spcPts val="3884"/>
              </a:lnSpc>
            </a:pPr>
            <a:endParaRPr lang="en-US" sz="2774" dirty="0">
              <a:solidFill>
                <a:srgbClr val="5E7B97"/>
              </a:solidFill>
              <a:latin typeface="Source Sans Pro"/>
              <a:ea typeface="Source Sans Pro"/>
              <a:cs typeface="Source Sans Pro"/>
              <a:sym typeface="Source Sans Pr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sp>
        <p:nvSpPr>
          <p:cNvPr id="2" name="Freeform 2"/>
          <p:cNvSpPr/>
          <p:nvPr/>
        </p:nvSpPr>
        <p:spPr>
          <a:xfrm rot="-10800000">
            <a:off x="-774190" y="-918582"/>
            <a:ext cx="4360053" cy="4114800"/>
          </a:xfrm>
          <a:custGeom>
            <a:avLst/>
            <a:gdLst/>
            <a:ahLst/>
            <a:cxnLst/>
            <a:rect l="l" t="t" r="r" b="b"/>
            <a:pathLst>
              <a:path w="4360053" h="4114800">
                <a:moveTo>
                  <a:pt x="0" y="0"/>
                </a:moveTo>
                <a:lnTo>
                  <a:pt x="4360053" y="0"/>
                </a:lnTo>
                <a:lnTo>
                  <a:pt x="4360053" y="4114800"/>
                </a:lnTo>
                <a:lnTo>
                  <a:pt x="0" y="41148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525606" y="2803493"/>
            <a:ext cx="1645692" cy="1642700"/>
          </a:xfrm>
          <a:custGeom>
            <a:avLst/>
            <a:gdLst/>
            <a:ahLst/>
            <a:cxnLst/>
            <a:rect l="l" t="t" r="r" b="b"/>
            <a:pathLst>
              <a:path w="1645692" h="1642700">
                <a:moveTo>
                  <a:pt x="0" y="0"/>
                </a:moveTo>
                <a:lnTo>
                  <a:pt x="1645692" y="0"/>
                </a:lnTo>
                <a:lnTo>
                  <a:pt x="1645692" y="1642700"/>
                </a:lnTo>
                <a:lnTo>
                  <a:pt x="0" y="164270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rot="435982">
            <a:off x="14831313" y="6831570"/>
            <a:ext cx="4360053" cy="4114800"/>
          </a:xfrm>
          <a:custGeom>
            <a:avLst/>
            <a:gdLst/>
            <a:ahLst/>
            <a:cxnLst/>
            <a:rect l="l" t="t" r="r" b="b"/>
            <a:pathLst>
              <a:path w="4360053" h="4114800">
                <a:moveTo>
                  <a:pt x="0" y="0"/>
                </a:moveTo>
                <a:lnTo>
                  <a:pt x="4360053" y="0"/>
                </a:lnTo>
                <a:lnTo>
                  <a:pt x="4360053" y="4114800"/>
                </a:lnTo>
                <a:lnTo>
                  <a:pt x="0" y="41148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Freeform 5"/>
          <p:cNvSpPr/>
          <p:nvPr/>
        </p:nvSpPr>
        <p:spPr>
          <a:xfrm rot="10652293">
            <a:off x="16983529" y="5751008"/>
            <a:ext cx="1645692" cy="1642700"/>
          </a:xfrm>
          <a:custGeom>
            <a:avLst/>
            <a:gdLst/>
            <a:ahLst/>
            <a:cxnLst/>
            <a:rect l="l" t="t" r="r" b="b"/>
            <a:pathLst>
              <a:path w="1645692" h="1642700">
                <a:moveTo>
                  <a:pt x="0" y="0"/>
                </a:moveTo>
                <a:lnTo>
                  <a:pt x="1645693" y="0"/>
                </a:lnTo>
                <a:lnTo>
                  <a:pt x="1645693" y="1642700"/>
                </a:lnTo>
                <a:lnTo>
                  <a:pt x="0" y="164270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6" name="Freeform 6"/>
          <p:cNvSpPr/>
          <p:nvPr/>
        </p:nvSpPr>
        <p:spPr>
          <a:xfrm rot="1831725">
            <a:off x="-742937" y="7811340"/>
            <a:ext cx="3125458" cy="3497537"/>
          </a:xfrm>
          <a:custGeom>
            <a:avLst/>
            <a:gdLst/>
            <a:ahLst/>
            <a:cxnLst/>
            <a:rect l="l" t="t" r="r" b="b"/>
            <a:pathLst>
              <a:path w="3125458" h="3497537">
                <a:moveTo>
                  <a:pt x="0" y="0"/>
                </a:moveTo>
                <a:lnTo>
                  <a:pt x="3125458" y="0"/>
                </a:lnTo>
                <a:lnTo>
                  <a:pt x="3125458" y="3497537"/>
                </a:lnTo>
                <a:lnTo>
                  <a:pt x="0" y="3497537"/>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7" name="Freeform 7"/>
          <p:cNvSpPr/>
          <p:nvPr/>
        </p:nvSpPr>
        <p:spPr>
          <a:xfrm rot="3179362" flipH="1" flipV="1">
            <a:off x="15802758" y="-1021471"/>
            <a:ext cx="3125458" cy="3497537"/>
          </a:xfrm>
          <a:custGeom>
            <a:avLst/>
            <a:gdLst/>
            <a:ahLst/>
            <a:cxnLst/>
            <a:rect l="l" t="t" r="r" b="b"/>
            <a:pathLst>
              <a:path w="3125458" h="3497537">
                <a:moveTo>
                  <a:pt x="3125458" y="3497537"/>
                </a:moveTo>
                <a:lnTo>
                  <a:pt x="0" y="3497537"/>
                </a:lnTo>
                <a:lnTo>
                  <a:pt x="0" y="0"/>
                </a:lnTo>
                <a:lnTo>
                  <a:pt x="3125458" y="0"/>
                </a:lnTo>
                <a:lnTo>
                  <a:pt x="3125458" y="3497537"/>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8" name="Freeform 8"/>
          <p:cNvSpPr/>
          <p:nvPr/>
        </p:nvSpPr>
        <p:spPr>
          <a:xfrm rot="-5400000">
            <a:off x="3473863" y="7880583"/>
            <a:ext cx="2196274" cy="4114800"/>
          </a:xfrm>
          <a:custGeom>
            <a:avLst/>
            <a:gdLst/>
            <a:ahLst/>
            <a:cxnLst/>
            <a:rect l="l" t="t" r="r" b="b"/>
            <a:pathLst>
              <a:path w="2196274" h="4114800">
                <a:moveTo>
                  <a:pt x="0" y="0"/>
                </a:moveTo>
                <a:lnTo>
                  <a:pt x="2196274" y="0"/>
                </a:lnTo>
                <a:lnTo>
                  <a:pt x="2196274" y="4114800"/>
                </a:lnTo>
                <a:lnTo>
                  <a:pt x="0" y="4114800"/>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9" name="Freeform 9"/>
          <p:cNvSpPr/>
          <p:nvPr/>
        </p:nvSpPr>
        <p:spPr>
          <a:xfrm rot="-5400000" flipH="1" flipV="1">
            <a:off x="12542524" y="-1843759"/>
            <a:ext cx="2196275" cy="4114800"/>
          </a:xfrm>
          <a:custGeom>
            <a:avLst/>
            <a:gdLst/>
            <a:ahLst/>
            <a:cxnLst/>
            <a:rect l="l" t="t" r="r" b="b"/>
            <a:pathLst>
              <a:path w="2196275" h="4114800">
                <a:moveTo>
                  <a:pt x="2196275" y="4114800"/>
                </a:moveTo>
                <a:lnTo>
                  <a:pt x="0" y="4114800"/>
                </a:lnTo>
                <a:lnTo>
                  <a:pt x="0" y="0"/>
                </a:lnTo>
                <a:lnTo>
                  <a:pt x="2196275" y="0"/>
                </a:lnTo>
                <a:lnTo>
                  <a:pt x="2196275" y="411480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0" name="Freeform 10"/>
          <p:cNvSpPr/>
          <p:nvPr/>
        </p:nvSpPr>
        <p:spPr>
          <a:xfrm>
            <a:off x="3351741" y="-1311778"/>
            <a:ext cx="2440518" cy="2623557"/>
          </a:xfrm>
          <a:custGeom>
            <a:avLst/>
            <a:gdLst/>
            <a:ahLst/>
            <a:cxnLst/>
            <a:rect l="l" t="t" r="r" b="b"/>
            <a:pathLst>
              <a:path w="2440518" h="2623557">
                <a:moveTo>
                  <a:pt x="0" y="0"/>
                </a:moveTo>
                <a:lnTo>
                  <a:pt x="2440518" y="0"/>
                </a:lnTo>
                <a:lnTo>
                  <a:pt x="2440518" y="2623556"/>
                </a:lnTo>
                <a:lnTo>
                  <a:pt x="0" y="2623556"/>
                </a:lnTo>
                <a:lnTo>
                  <a:pt x="0" y="0"/>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1" name="Freeform 11"/>
          <p:cNvSpPr/>
          <p:nvPr/>
        </p:nvSpPr>
        <p:spPr>
          <a:xfrm flipH="1" flipV="1">
            <a:off x="12148079" y="8839846"/>
            <a:ext cx="2440518" cy="2623557"/>
          </a:xfrm>
          <a:custGeom>
            <a:avLst/>
            <a:gdLst/>
            <a:ahLst/>
            <a:cxnLst/>
            <a:rect l="l" t="t" r="r" b="b"/>
            <a:pathLst>
              <a:path w="2440518" h="2623557">
                <a:moveTo>
                  <a:pt x="2440517" y="2623557"/>
                </a:moveTo>
                <a:lnTo>
                  <a:pt x="0" y="2623557"/>
                </a:lnTo>
                <a:lnTo>
                  <a:pt x="0" y="0"/>
                </a:lnTo>
                <a:lnTo>
                  <a:pt x="2440517" y="0"/>
                </a:lnTo>
                <a:lnTo>
                  <a:pt x="2440517" y="2623557"/>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2" name="TextBox 12"/>
          <p:cNvSpPr txBox="1"/>
          <p:nvPr/>
        </p:nvSpPr>
        <p:spPr>
          <a:xfrm>
            <a:off x="3351741" y="1290581"/>
            <a:ext cx="12096818" cy="615553"/>
          </a:xfrm>
          <a:prstGeom prst="rect">
            <a:avLst/>
          </a:prstGeom>
        </p:spPr>
        <p:txBody>
          <a:bodyPr lIns="0" tIns="0" rIns="0" bIns="0" rtlCol="0" anchor="t">
            <a:spAutoFit/>
          </a:bodyPr>
          <a:lstStyle/>
          <a:p>
            <a:pPr marL="0" lvl="0" indent="0" algn="ctr">
              <a:lnSpc>
                <a:spcPts val="4754"/>
              </a:lnSpc>
            </a:pPr>
            <a:r>
              <a:rPr lang="en-US" sz="5167" dirty="0">
                <a:solidFill>
                  <a:srgbClr val="5E7B97"/>
                </a:solidFill>
                <a:latin typeface="Agency FB" panose="020B0503020202020204" pitchFamily="34" charset="0"/>
                <a:ea typeface="TT Marxiana Antigua"/>
                <a:cs typeface="TT Marxiana Antigua"/>
                <a:sym typeface="TT Marxiana Antigua"/>
              </a:rPr>
              <a:t>Limitations and Future work</a:t>
            </a:r>
          </a:p>
        </p:txBody>
      </p:sp>
      <p:sp>
        <p:nvSpPr>
          <p:cNvPr id="13" name="TextBox 13"/>
          <p:cNvSpPr txBox="1"/>
          <p:nvPr/>
        </p:nvSpPr>
        <p:spPr>
          <a:xfrm>
            <a:off x="3074809" y="2048138"/>
            <a:ext cx="12096818" cy="3282950"/>
          </a:xfrm>
          <a:prstGeom prst="rect">
            <a:avLst/>
          </a:prstGeom>
        </p:spPr>
        <p:txBody>
          <a:bodyPr lIns="0" tIns="0" rIns="0" bIns="0" rtlCol="0" anchor="t">
            <a:spAutoFit/>
          </a:bodyPr>
          <a:lstStyle/>
          <a:p>
            <a:pPr marL="755651" lvl="1" indent="-377825" algn="l">
              <a:lnSpc>
                <a:spcPts val="3220"/>
              </a:lnSpc>
              <a:buFont typeface="Arial"/>
              <a:buChar char="•"/>
            </a:pPr>
            <a:r>
              <a:rPr lang="en-US" sz="3500" dirty="0">
                <a:solidFill>
                  <a:srgbClr val="8095A6"/>
                </a:solidFill>
                <a:latin typeface="Source Sans Pro" panose="020B0604020202020204" charset="0"/>
                <a:ea typeface="Source Sans Pro" panose="020B0604020202020204" charset="0"/>
                <a:cs typeface="TT Marxiana Antigua"/>
                <a:sym typeface="TT Marxiana Antigua"/>
              </a:rPr>
              <a:t>There are no leave dates or time dimension, so the model can say who is at risk but not when they might leave. It also doesn’t separate voluntary from involuntary exits.</a:t>
            </a:r>
          </a:p>
          <a:p>
            <a:pPr marL="755651" lvl="1" indent="-377825" algn="l">
              <a:lnSpc>
                <a:spcPts val="3220"/>
              </a:lnSpc>
              <a:buFont typeface="Arial"/>
              <a:buChar char="•"/>
            </a:pPr>
            <a:r>
              <a:rPr lang="en-US" sz="3500" dirty="0">
                <a:solidFill>
                  <a:srgbClr val="8095A6"/>
                </a:solidFill>
                <a:latin typeface="Source Sans Pro" panose="020B0604020202020204" charset="0"/>
                <a:ea typeface="Source Sans Pro" panose="020B0604020202020204" charset="0"/>
                <a:cs typeface="TT Marxiana Antigua"/>
                <a:sym typeface="TT Marxiana Antigua"/>
              </a:rPr>
              <a:t>Overtime is the strongest link to attrition (about +0.25 correlation), but the data can’t show that reducing overtime would reduce attrition.</a:t>
            </a:r>
          </a:p>
          <a:p>
            <a:pPr marL="755651" lvl="1" indent="-377825" algn="l">
              <a:lnSpc>
                <a:spcPts val="3220"/>
              </a:lnSpc>
              <a:buFont typeface="Arial"/>
              <a:buChar char="•"/>
            </a:pPr>
            <a:r>
              <a:rPr lang="en-US" sz="3500" dirty="0">
                <a:solidFill>
                  <a:srgbClr val="8095A6"/>
                </a:solidFill>
                <a:latin typeface="Source Sans Pro" panose="020B0604020202020204" charset="0"/>
                <a:ea typeface="Source Sans Pro" panose="020B0604020202020204" charset="0"/>
                <a:cs typeface="TT Marxiana Antigua"/>
                <a:sym typeface="TT Marxiana Antigua"/>
              </a:rPr>
              <a:t>It leaves out external factors. Manager quality, the job market and pay relative to competitors aren’t recorded.</a:t>
            </a:r>
          </a:p>
        </p:txBody>
      </p:sp>
      <p:sp>
        <p:nvSpPr>
          <p:cNvPr id="14" name="TextBox 14"/>
          <p:cNvSpPr txBox="1"/>
          <p:nvPr/>
        </p:nvSpPr>
        <p:spPr>
          <a:xfrm>
            <a:off x="3095591" y="5486855"/>
            <a:ext cx="12096818" cy="2872581"/>
          </a:xfrm>
          <a:prstGeom prst="rect">
            <a:avLst/>
          </a:prstGeom>
        </p:spPr>
        <p:txBody>
          <a:bodyPr lIns="0" tIns="0" rIns="0" bIns="0" rtlCol="0" anchor="t">
            <a:spAutoFit/>
          </a:bodyPr>
          <a:lstStyle/>
          <a:p>
            <a:pPr marL="755651" lvl="1" indent="-377825" algn="l">
              <a:lnSpc>
                <a:spcPts val="3220"/>
              </a:lnSpc>
              <a:buFont typeface="Arial"/>
              <a:buChar char="•"/>
            </a:pPr>
            <a:r>
              <a:rPr lang="en-US" sz="3500" dirty="0">
                <a:solidFill>
                  <a:srgbClr val="8095A6"/>
                </a:solidFill>
                <a:latin typeface="Source Sans Pro" panose="020B0604020202020204" charset="0"/>
                <a:ea typeface="Source Sans Pro" panose="020B0604020202020204" charset="0"/>
                <a:cs typeface="TT Marxiana Antigua"/>
                <a:sym typeface="TT Marxiana Antigua"/>
              </a:rPr>
              <a:t>Fairness audit: comparing error rates across gender, age and marital status, to determine finer details into their reasoning.</a:t>
            </a:r>
          </a:p>
          <a:p>
            <a:pPr marL="755651" lvl="1" indent="-377825" algn="l">
              <a:lnSpc>
                <a:spcPts val="3220"/>
              </a:lnSpc>
              <a:buFont typeface="Arial"/>
              <a:buChar char="•"/>
            </a:pPr>
            <a:r>
              <a:rPr lang="en-US" sz="3500" dirty="0">
                <a:solidFill>
                  <a:srgbClr val="5E7B97"/>
                </a:solidFill>
                <a:latin typeface="Source Sans Pro" panose="020B0604020202020204" charset="0"/>
                <a:ea typeface="Source Sans Pro" panose="020B0604020202020204" charset="0"/>
                <a:cs typeface="TT Marxiana Antigua"/>
                <a:sym typeface="TT Marxiana Antigua"/>
              </a:rPr>
              <a:t>Pay-gap feature: dropping </a:t>
            </a:r>
            <a:r>
              <a:rPr lang="en-US" sz="3500" dirty="0" err="1">
                <a:solidFill>
                  <a:srgbClr val="5E7B97"/>
                </a:solidFill>
                <a:latin typeface="Source Sans Pro" panose="020B0604020202020204" charset="0"/>
                <a:ea typeface="Source Sans Pro" panose="020B0604020202020204" charset="0"/>
                <a:cs typeface="TT Marxiana Antigua"/>
                <a:sym typeface="TT Marxiana Antigua"/>
              </a:rPr>
              <a:t>JobLevel</a:t>
            </a:r>
            <a:r>
              <a:rPr lang="en-US" sz="3500" dirty="0">
                <a:solidFill>
                  <a:srgbClr val="5E7B97"/>
                </a:solidFill>
                <a:latin typeface="Source Sans Pro" panose="020B0604020202020204" charset="0"/>
                <a:ea typeface="Source Sans Pro" panose="020B0604020202020204" charset="0"/>
                <a:cs typeface="TT Marxiana Antigua"/>
                <a:sym typeface="TT Marxiana Antigua"/>
              </a:rPr>
              <a:t> from the income model and use the gap between actual and predicted pay as a new attrition predictor.</a:t>
            </a:r>
          </a:p>
          <a:p>
            <a:pPr marL="755651" lvl="1" indent="-377825" algn="l">
              <a:lnSpc>
                <a:spcPts val="3220"/>
              </a:lnSpc>
              <a:buFont typeface="Arial"/>
              <a:buChar char="•"/>
            </a:pPr>
            <a:r>
              <a:rPr lang="en-US" sz="3500" dirty="0">
                <a:solidFill>
                  <a:srgbClr val="5E7B97"/>
                </a:solidFill>
                <a:latin typeface="Source Sans Pro" panose="020B0604020202020204" charset="0"/>
                <a:ea typeface="Source Sans Pro" panose="020B0604020202020204" charset="0"/>
                <a:cs typeface="TT Marxiana Antigua"/>
                <a:sym typeface="TT Marxiana Antigua"/>
              </a:rPr>
              <a:t>Real-world validation: test on real company data, then pilot retention actions and measure whether they lower attrition.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sp>
        <p:nvSpPr>
          <p:cNvPr id="2" name="Freeform 2"/>
          <p:cNvSpPr/>
          <p:nvPr/>
        </p:nvSpPr>
        <p:spPr>
          <a:xfrm rot="-10800000">
            <a:off x="-774190" y="-918582"/>
            <a:ext cx="4360053" cy="4114800"/>
          </a:xfrm>
          <a:custGeom>
            <a:avLst/>
            <a:gdLst/>
            <a:ahLst/>
            <a:cxnLst/>
            <a:rect l="l" t="t" r="r" b="b"/>
            <a:pathLst>
              <a:path w="4360053" h="4114800">
                <a:moveTo>
                  <a:pt x="0" y="0"/>
                </a:moveTo>
                <a:lnTo>
                  <a:pt x="4360053" y="0"/>
                </a:lnTo>
                <a:lnTo>
                  <a:pt x="4360053" y="4114800"/>
                </a:lnTo>
                <a:lnTo>
                  <a:pt x="0" y="41148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525606" y="2803493"/>
            <a:ext cx="1645692" cy="1642700"/>
          </a:xfrm>
          <a:custGeom>
            <a:avLst/>
            <a:gdLst/>
            <a:ahLst/>
            <a:cxnLst/>
            <a:rect l="l" t="t" r="r" b="b"/>
            <a:pathLst>
              <a:path w="1645692" h="1642700">
                <a:moveTo>
                  <a:pt x="0" y="0"/>
                </a:moveTo>
                <a:lnTo>
                  <a:pt x="1645692" y="0"/>
                </a:lnTo>
                <a:lnTo>
                  <a:pt x="1645692" y="1642700"/>
                </a:lnTo>
                <a:lnTo>
                  <a:pt x="0" y="164270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rot="435982">
            <a:off x="14831313" y="6831570"/>
            <a:ext cx="4360053" cy="4114800"/>
          </a:xfrm>
          <a:custGeom>
            <a:avLst/>
            <a:gdLst/>
            <a:ahLst/>
            <a:cxnLst/>
            <a:rect l="l" t="t" r="r" b="b"/>
            <a:pathLst>
              <a:path w="4360053" h="4114800">
                <a:moveTo>
                  <a:pt x="0" y="0"/>
                </a:moveTo>
                <a:lnTo>
                  <a:pt x="4360053" y="0"/>
                </a:lnTo>
                <a:lnTo>
                  <a:pt x="4360053" y="4114800"/>
                </a:lnTo>
                <a:lnTo>
                  <a:pt x="0" y="41148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Freeform 5"/>
          <p:cNvSpPr/>
          <p:nvPr/>
        </p:nvSpPr>
        <p:spPr>
          <a:xfrm rot="10652293">
            <a:off x="16983529" y="5751008"/>
            <a:ext cx="1645692" cy="1642700"/>
          </a:xfrm>
          <a:custGeom>
            <a:avLst/>
            <a:gdLst/>
            <a:ahLst/>
            <a:cxnLst/>
            <a:rect l="l" t="t" r="r" b="b"/>
            <a:pathLst>
              <a:path w="1645692" h="1642700">
                <a:moveTo>
                  <a:pt x="0" y="0"/>
                </a:moveTo>
                <a:lnTo>
                  <a:pt x="1645693" y="0"/>
                </a:lnTo>
                <a:lnTo>
                  <a:pt x="1645693" y="1642700"/>
                </a:lnTo>
                <a:lnTo>
                  <a:pt x="0" y="164270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6" name="Freeform 6"/>
          <p:cNvSpPr/>
          <p:nvPr/>
        </p:nvSpPr>
        <p:spPr>
          <a:xfrm rot="1831725">
            <a:off x="-742937" y="7811340"/>
            <a:ext cx="3125458" cy="3497537"/>
          </a:xfrm>
          <a:custGeom>
            <a:avLst/>
            <a:gdLst/>
            <a:ahLst/>
            <a:cxnLst/>
            <a:rect l="l" t="t" r="r" b="b"/>
            <a:pathLst>
              <a:path w="3125458" h="3497537">
                <a:moveTo>
                  <a:pt x="0" y="0"/>
                </a:moveTo>
                <a:lnTo>
                  <a:pt x="3125458" y="0"/>
                </a:lnTo>
                <a:lnTo>
                  <a:pt x="3125458" y="3497537"/>
                </a:lnTo>
                <a:lnTo>
                  <a:pt x="0" y="3497537"/>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7" name="Freeform 7"/>
          <p:cNvSpPr/>
          <p:nvPr/>
        </p:nvSpPr>
        <p:spPr>
          <a:xfrm rot="3179362" flipH="1" flipV="1">
            <a:off x="15802758" y="-1021471"/>
            <a:ext cx="3125458" cy="3497537"/>
          </a:xfrm>
          <a:custGeom>
            <a:avLst/>
            <a:gdLst/>
            <a:ahLst/>
            <a:cxnLst/>
            <a:rect l="l" t="t" r="r" b="b"/>
            <a:pathLst>
              <a:path w="3125458" h="3497537">
                <a:moveTo>
                  <a:pt x="3125458" y="3497537"/>
                </a:moveTo>
                <a:lnTo>
                  <a:pt x="0" y="3497537"/>
                </a:lnTo>
                <a:lnTo>
                  <a:pt x="0" y="0"/>
                </a:lnTo>
                <a:lnTo>
                  <a:pt x="3125458" y="0"/>
                </a:lnTo>
                <a:lnTo>
                  <a:pt x="3125458" y="3497537"/>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8" name="Freeform 8"/>
          <p:cNvSpPr/>
          <p:nvPr/>
        </p:nvSpPr>
        <p:spPr>
          <a:xfrm rot="-5400000">
            <a:off x="3473863" y="7880583"/>
            <a:ext cx="2196274" cy="4114800"/>
          </a:xfrm>
          <a:custGeom>
            <a:avLst/>
            <a:gdLst/>
            <a:ahLst/>
            <a:cxnLst/>
            <a:rect l="l" t="t" r="r" b="b"/>
            <a:pathLst>
              <a:path w="2196274" h="4114800">
                <a:moveTo>
                  <a:pt x="0" y="0"/>
                </a:moveTo>
                <a:lnTo>
                  <a:pt x="2196274" y="0"/>
                </a:lnTo>
                <a:lnTo>
                  <a:pt x="2196274" y="4114800"/>
                </a:lnTo>
                <a:lnTo>
                  <a:pt x="0" y="4114800"/>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9" name="Freeform 9"/>
          <p:cNvSpPr/>
          <p:nvPr/>
        </p:nvSpPr>
        <p:spPr>
          <a:xfrm rot="-5400000" flipH="1" flipV="1">
            <a:off x="12542524" y="-1843759"/>
            <a:ext cx="2196275" cy="4114800"/>
          </a:xfrm>
          <a:custGeom>
            <a:avLst/>
            <a:gdLst/>
            <a:ahLst/>
            <a:cxnLst/>
            <a:rect l="l" t="t" r="r" b="b"/>
            <a:pathLst>
              <a:path w="2196275" h="4114800">
                <a:moveTo>
                  <a:pt x="2196275" y="4114800"/>
                </a:moveTo>
                <a:lnTo>
                  <a:pt x="0" y="4114800"/>
                </a:lnTo>
                <a:lnTo>
                  <a:pt x="0" y="0"/>
                </a:lnTo>
                <a:lnTo>
                  <a:pt x="2196275" y="0"/>
                </a:lnTo>
                <a:lnTo>
                  <a:pt x="2196275" y="411480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0" name="Freeform 10"/>
          <p:cNvSpPr/>
          <p:nvPr/>
        </p:nvSpPr>
        <p:spPr>
          <a:xfrm>
            <a:off x="3351741" y="-1311778"/>
            <a:ext cx="2440518" cy="2623557"/>
          </a:xfrm>
          <a:custGeom>
            <a:avLst/>
            <a:gdLst/>
            <a:ahLst/>
            <a:cxnLst/>
            <a:rect l="l" t="t" r="r" b="b"/>
            <a:pathLst>
              <a:path w="2440518" h="2623557">
                <a:moveTo>
                  <a:pt x="0" y="0"/>
                </a:moveTo>
                <a:lnTo>
                  <a:pt x="2440518" y="0"/>
                </a:lnTo>
                <a:lnTo>
                  <a:pt x="2440518" y="2623556"/>
                </a:lnTo>
                <a:lnTo>
                  <a:pt x="0" y="2623556"/>
                </a:lnTo>
                <a:lnTo>
                  <a:pt x="0" y="0"/>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1" name="Freeform 11"/>
          <p:cNvSpPr/>
          <p:nvPr/>
        </p:nvSpPr>
        <p:spPr>
          <a:xfrm flipH="1" flipV="1">
            <a:off x="12148079" y="8839846"/>
            <a:ext cx="2440518" cy="2623557"/>
          </a:xfrm>
          <a:custGeom>
            <a:avLst/>
            <a:gdLst/>
            <a:ahLst/>
            <a:cxnLst/>
            <a:rect l="l" t="t" r="r" b="b"/>
            <a:pathLst>
              <a:path w="2440518" h="2623557">
                <a:moveTo>
                  <a:pt x="2440517" y="2623557"/>
                </a:moveTo>
                <a:lnTo>
                  <a:pt x="0" y="2623557"/>
                </a:lnTo>
                <a:lnTo>
                  <a:pt x="0" y="0"/>
                </a:lnTo>
                <a:lnTo>
                  <a:pt x="2440517" y="0"/>
                </a:lnTo>
                <a:lnTo>
                  <a:pt x="2440517" y="2623557"/>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2" name="TextBox 12"/>
          <p:cNvSpPr txBox="1"/>
          <p:nvPr/>
        </p:nvSpPr>
        <p:spPr>
          <a:xfrm>
            <a:off x="5659907" y="2769412"/>
            <a:ext cx="6968184" cy="1483932"/>
          </a:xfrm>
          <a:prstGeom prst="rect">
            <a:avLst/>
          </a:prstGeom>
        </p:spPr>
        <p:txBody>
          <a:bodyPr wrap="square" lIns="0" tIns="0" rIns="0" bIns="0" rtlCol="0" anchor="t">
            <a:spAutoFit/>
          </a:bodyPr>
          <a:lstStyle/>
          <a:p>
            <a:pPr algn="ctr">
              <a:lnSpc>
                <a:spcPts val="12880"/>
              </a:lnSpc>
            </a:pPr>
            <a:r>
              <a:rPr lang="en-US" sz="9200" b="1" dirty="0">
                <a:solidFill>
                  <a:srgbClr val="5E7B97"/>
                </a:solidFill>
                <a:latin typeface="Agency FB" panose="020B0503020202020204" pitchFamily="34" charset="0"/>
                <a:ea typeface="Canva Sans Bold"/>
                <a:cs typeface="Canva Sans Bold"/>
                <a:sym typeface="Canva Sans Bold"/>
              </a:rPr>
              <a:t>Thank you</a:t>
            </a:r>
          </a:p>
        </p:txBody>
      </p:sp>
      <p:sp>
        <p:nvSpPr>
          <p:cNvPr id="14" name="TextBox 14"/>
          <p:cNvSpPr txBox="1"/>
          <p:nvPr/>
        </p:nvSpPr>
        <p:spPr>
          <a:xfrm>
            <a:off x="6214417" y="5991968"/>
            <a:ext cx="5859165" cy="580390"/>
          </a:xfrm>
          <a:prstGeom prst="rect">
            <a:avLst/>
          </a:prstGeom>
        </p:spPr>
        <p:txBody>
          <a:bodyPr lIns="0" tIns="0" rIns="0" bIns="0" rtlCol="0" anchor="t">
            <a:spAutoFit/>
          </a:bodyPr>
          <a:lstStyle/>
          <a:p>
            <a:pPr algn="ctr">
              <a:lnSpc>
                <a:spcPts val="4759"/>
              </a:lnSpc>
            </a:pPr>
            <a:r>
              <a:rPr lang="en-US" sz="3399">
                <a:solidFill>
                  <a:srgbClr val="5E7B97"/>
                </a:solidFill>
                <a:latin typeface="Canva Sans"/>
                <a:ea typeface="Canva Sans"/>
                <a:cs typeface="Canva Sans"/>
                <a:sym typeface="Canva Sans"/>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905</Words>
  <Application>Microsoft Office PowerPoint</Application>
  <PresentationFormat>Custom</PresentationFormat>
  <Paragraphs>75</Paragraphs>
  <Slides>10</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vt:i4>
      </vt:variant>
    </vt:vector>
  </HeadingPairs>
  <TitlesOfParts>
    <vt:vector size="22" baseType="lpstr">
      <vt:lpstr>Arial</vt:lpstr>
      <vt:lpstr>Canva Sans Bold</vt:lpstr>
      <vt:lpstr>Assistant Semi-Bold</vt:lpstr>
      <vt:lpstr>Source Sans Pro</vt:lpstr>
      <vt:lpstr>Calibri</vt:lpstr>
      <vt:lpstr>Agency FB</vt:lpstr>
      <vt:lpstr>TT Marxiana Antigua</vt:lpstr>
      <vt:lpstr>Assistant Bold</vt:lpstr>
      <vt:lpstr>Georgia Pro Condensed</vt:lpstr>
      <vt:lpstr>Canva Sans</vt:lpstr>
      <vt:lpstr>Source Sans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Text Magic Studio Magic Design for Presentations L&amp;P</dc:title>
  <dc:creator>Lenovo</dc:creator>
  <cp:lastModifiedBy>Lenovo</cp:lastModifiedBy>
  <cp:revision>6</cp:revision>
  <dcterms:created xsi:type="dcterms:W3CDTF">2006-08-16T00:00:00Z</dcterms:created>
  <dcterms:modified xsi:type="dcterms:W3CDTF">2026-10-17T17:31:54Z</dcterms:modified>
  <dc:identifier>DAHXcVAclsg</dc:identifier>
</cp:coreProperties>
</file>